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embeddedFontLst>
    <p:embeddedFont>
      <p:font typeface="DM Sans" pitchFamily="34" charset="0"/>
      <p:regular r:id="rId16"/>
      <p:bold r:id="rId17"/>
    </p:embeddedFont>
    <p:embeddedFont>
      <p:font typeface="JetBrains Mono" panose="02000009000000000000" pitchFamily="49" charset="0"/>
      <p:regular r:id="rId18"/>
      <p:bold r:id="rId1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openxmlformats.org/officeDocument/2006/relationships/font" Target="fonts/font1.fntdata"/><Relationship Id="rId17" Type="http://schemas.openxmlformats.org/officeDocument/2006/relationships/font" Target="fonts/font2.fntdata"/><Relationship Id="rId18" Type="http://schemas.openxmlformats.org/officeDocument/2006/relationships/font" Target="fonts/font3.fntdata"/><Relationship Id="rId19"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Buenas [tardes]. Soy [tu nombre]. En este trabajo tomamos el caso Sonido Vivo y llevamos su lógica de negocio a objetos guardados en Oracle: procedimientos, funciones, un package y triggers.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Sonido Vivo es una tienda de instrumentos. Tiene dos reglas importantes: da descuento a sus clientes según cuánto compran, y no puede vender lo que no tiene en bodega. Si esas reglas están repartidas en distintos programas, cada uno puede aplicarlas distinto. Por eso las llevamos a la base de datos con cuatro tipos de objetos: los procedimientos ejecutan procesos, las funciones calculan, el package agrupa y los triggers reaccionan solos.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la entrega anterior, esta lógica estaba en bloques anónimos: se ejecutan una vez y no quedan guardados. Por ejemplo, la liquidación era un solo bloque, con la regla del descuento metida dentro del LOOP. En esta entrega la convertimos en objetos con nombre: quedan guardados y compilados en la base, y se ejecutan cuando se necesitan. El bloque de la liquidación pasó a ser SP_LIQUIDAR_CLIENTES, y el de la venta, SP_REGISTRAR_VENTA.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negocio tiene tres momentos. 1) Cada venta: SP_REGISTRAR_VENTA recibe cliente, producto y cantidad, valida y registra; al guardar, los triggers descuentan el stock y anotan la venta. La venta queda pendiente y sin descuento; si algo falla, ROLLBACK y el error queda en LOG_ERRORES. 2) Al cierre del periodo, que es una regla de negocio: SP_LIQUIDAR_CLIENTES junta las ventas pendientes, FN_CALCULAR_DESCUENTO calcula la tasa de cada cliente y el resultado queda en LIQUIDACION_CLIENTE. FN_TOTAL_PENDIENTE permite ver cuánto hay por liquidar. 3) En el día a día, el package PKG_SONIDO_VIVO maneja el inventario y los clientes: muestra los productos con poco stock, repone stock cuando llega mercadería, entrega el resumen de un cliente (usando la misma función de descuento) y, por dentro, registra sus errores con un procedimiento privado.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ES: Un procedimiento es un proceso guardado en la base con nombre: ejecuta una serie de pasos, como insertar, actualizar y confirmar. CÓMO SE COMPORTA: No devuelve un valor: se ejecuta con EXEC o se llama desde otro programa. Puede recibir parámetros o no. EJEMPLO SENCILLO: SP_LIQUIDAR_CLIENTES no recibe nada: al ejecutarlo recorre a los clientes con ventas pendientes, le pide a la función el descuento de cada uno y guarda la liquidación; liquidó a 4 clientes. SP_REGISTRAR_VENTA recibe cliente, producto y cantidad: una venta de 2 unidades de AC002 se registra y el stock baja de 20 a 18; una de 5 unidades de GE002, que tiene 2, se rechaza y el error queda anotado. POR QUÉ LO USAMOS: Porque son procesos de la tienda: el cierre del periodo y la venta del mostrador. Guardados como procedimientos, se ejecutan siempre igual, con validaciones, y si algo falla la venta no queda a medias. Son procedimientos y no funciones porque ejecutan una tarea; no calculan un valor para devolver.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ES: Una función es un programa guardado que recibe datos y devuelve un valor. Es como ROUND o NVL, pero escrita con la regla de la tienda. CÓMO SE COMPORTA: Siempre termina con RETURN y, como devuelve un valor, se puede usar dentro de un SELECT o de otro programa. Llamada desde un SELECT no puede modificar tablas: solo calcula. EJEMPLO SENCILLO: FN_CALCULAR_DESCUENTO recibe el total comprado y el tipo de cliente. Carlos compró 891.950 y es PREMIUM: pasa los 700.000, así que le toca 10 %, y por ser PREMIUM suma 2: devuelve 12. FN_TOTAL_PENDIENTE no recibe nada y devuelve el total de las ventas pendientes: 2.507.890. POR QUÉ LO USAMOS: Porque la política de descuentos queda escrita en un solo lugar. En la EP1 estaba dentro del bloque de liquidación y solo servía ahí; ahora la usan la liquidación y el resumen de cliente, y el mismo cliente recibe el mismo descuento en todos lados. Si la tienda cambia los tramos, se corrige una vez.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ES: Un package agrupa funciones y procedimientos relacionados bajo un solo nombre, como un módulo de la tienda. CÓMO SE COMPORTA: Tiene dos partes. La especificación es lo público: lo que otros programas pueden llamar. El body tiene el código, y lo que está en el body pero no en la especificación es privado: solo lo usa el package por dentro. Se llama con el nombre del package, punto y el elemento. EJEMPLO SENCILLO: PKG_SONIDO_VIVO.sp_reponer_stock('GE002', 10) es público y suma 10 unidades. Por dentro usa elementos privados: revisa que el producto exista, que la cantidad no pase el tope de 100 y anota los errores. Si se llama desde fuera a sp_registrar_log, que es privado, Oracle responde PLS-00302: no lo encuentra. POR QUÉ LO USAMOS: Porque deja juntas las operaciones de inventario y clientes, y esconde lo de mantención. Así se puede cambiar cómo se registran los errores sin afectar a quien usa el package. Privado no es seguridad: es ordenar lo que se ve desde afuera.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ES: Un trigger es un bloque asociado a una tabla que Oracle ejecuta solo cuando se inserta, actualiza o borra en ella. Nadie lo llama. CÓMO SE COMPORTA: Hay dos tipos. El de fila se ejecuta una vez por cada fila afectada y puede leer los datos de esa fila con :NEW. El de sentencia se ejecuta una sola vez por operación, sin importar cuántas filas. EJEMPLO SENCILLO: Al vender 2 unidades de AC002 se inserta una línea en DETALLE_VENTA, y TRG_DESCUENTA_STOCK, que es de fila, revisa el stock y lo baja de 20 a 18. Si piden 5 de GE002 y hay 2, rechaza la línea con el error -20001. Y cada vez que se registra una venta, TRG_AUDITA_VENTA, que es de sentencia, anota una fila en la tabla de auditoría. POR QUÉ LO USAMOS: Porque la regla de no vender lo que no hay en bodega tiene que cumplirse siempre, venga de donde venga el cambio; un procedimiento solo protege a quien lo usa. El de stock es de fila porque depende de cuántas unidades lleva cada línea; la auditoría basta anotarla una vez por operación.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resumen, la lógica de Sonido Vivo ahora vive en la base de datos: los procedimientos ejecutan los procesos, la función centraliza el descuento, el package ordena y esconde lo interno, y los triggers hacen cumplir las reglas solos. Quedó una lógica reutilizable, controlada y auditable. Quedo atento a sus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53439"/>
            <a:ext cx="10566400" cy="391160"/>
          </a:xfrm>
          <a:prstGeom prst="rect">
            <a:avLst/>
          </a:prstGeom>
          <a:noFill/>
          <a:ln/>
        </p:spPr>
        <p:txBody>
          <a:bodyPr wrap="square" lIns="0" tIns="0" rIns="0" bIns="0" rtlCol="0" anchor="t"/>
          <a:lstStyle>
            <a:lvl1pPr algn="l" indent="0" marL="0">
              <a:lnSpc>
                <a:spcPct val="115000"/>
              </a:lnSpc>
              <a:buNone/>
              <a:defRPr lang="en-US" sz="2800" dirty="0">
                <a:solidFill>
                  <a:srgbClr val="101826"/>
                </a:solidFill>
                <a:latin typeface="DM Sans" pitchFamily="34" charset="0"/>
                <a:ea typeface="DM Sans" pitchFamily="34" charset="-122"/>
                <a:cs typeface="DM Sans"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800" y="1549399"/>
            <a:ext cx="10566400" cy="4495801"/>
          </a:xfrm>
          <a:prstGeom prst="rect">
            <a:avLst/>
          </a:prstGeom>
          <a:noFill/>
          <a:ln/>
        </p:spPr>
        <p:txBody>
          <a:bodyPr wrap="square" lIns="0" tIns="0" rIns="0" bIns="0" rtlCol="0" anchor="t"/>
          <a:lstStyle>
            <a:lvl1pPr algn="l" indent="0" marL="0">
              <a:lnSpc>
                <a:spcPct val="140000"/>
              </a:lnSpc>
              <a:buNone/>
              <a:defRPr lang="en-US" sz="1600" dirty="0">
                <a:solidFill>
                  <a:srgbClr val="101826"/>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53439"/>
            <a:ext cx="10566400" cy="391160"/>
          </a:xfrm>
          <a:prstGeom prst="rect">
            <a:avLst/>
          </a:prstGeom>
          <a:noFill/>
          <a:ln/>
        </p:spPr>
        <p:txBody>
          <a:bodyPr wrap="square" lIns="0" tIns="0" rIns="0" bIns="0" rtlCol="0" anchor="t"/>
          <a:lstStyle>
            <a:lvl1pPr algn="l" indent="0" marL="0">
              <a:lnSpc>
                <a:spcPct val="115000"/>
              </a:lnSpc>
              <a:buNone/>
              <a:defRPr lang="en-US" sz="2800" dirty="0">
                <a:solidFill>
                  <a:srgbClr val="101826"/>
                </a:solidFill>
                <a:latin typeface="DM Sans" pitchFamily="34" charset="0"/>
                <a:ea typeface="DM Sans" pitchFamily="34" charset="-122"/>
                <a:cs typeface="DM Sans"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800" y="1549399"/>
            <a:ext cx="10566400" cy="4495801"/>
          </a:xfrm>
          <a:prstGeom prst="rect">
            <a:avLst/>
          </a:prstGeom>
          <a:noFill/>
          <a:ln/>
        </p:spPr>
        <p:txBody>
          <a:bodyPr wrap="square" lIns="0" tIns="0" rIns="0" bIns="0" rtlCol="0" anchor="t"/>
          <a:lstStyle>
            <a:lvl1pPr algn="l" indent="0" marL="0">
              <a:lnSpc>
                <a:spcPct val="140000"/>
              </a:lnSpc>
              <a:buNone/>
              <a:defRPr lang="en-US" sz="1600" dirty="0">
                <a:solidFill>
                  <a:srgbClr val="101826"/>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826"/>
        </a:solidFill>
      </p:bgPr>
    </p:bg>
    <p:spTree>
      <p:nvGrpSpPr>
        <p:cNvPr id="1" name=""/>
        <p:cNvGrpSpPr/>
        <p:nvPr/>
      </p:nvGrpSpPr>
      <p:grpSpPr>
        <a:xfrm>
          <a:off x="0" y="0"/>
          <a:ext cx="0" cy="0"/>
          <a:chOff x="0" y="0"/>
          <a:chExt cx="0" cy="0"/>
        </a:xfrm>
      </p:grpSpPr>
      <p:sp>
        <p:nvSpPr>
          <p:cNvPr id="2" name="Shape 0"/>
          <p:cNvSpPr/>
          <p:nvPr/>
        </p:nvSpPr>
        <p:spPr>
          <a:xfrm>
            <a:off x="812800" y="812800"/>
            <a:ext cx="1016000" cy="50800"/>
          </a:xfrm>
          <a:prstGeom prst="rect">
            <a:avLst/>
          </a:prstGeom>
          <a:solidFill>
            <a:srgbClr val="E8913A"/>
          </a:solidFill>
          <a:ln/>
        </p:spPr>
      </p:sp>
      <p:sp>
        <p:nvSpPr>
          <p:cNvPr id="3" name="Text 1"/>
          <p:cNvSpPr/>
          <p:nvPr>
            <p:ph type="title"/>
          </p:nvPr>
        </p:nvSpPr>
        <p:spPr>
          <a:xfrm>
            <a:off x="812800" y="1092200"/>
            <a:ext cx="10883392" cy="1412240"/>
          </a:xfrm>
          <a:prstGeom prst="rect">
            <a:avLst/>
          </a:prstGeom>
          <a:noFill/>
          <a:ln/>
        </p:spPr>
        <p:txBody>
          <a:bodyPr wrap="square" lIns="0" tIns="0" rIns="0" bIns="0" rtlCol="0" anchor="t">
            <a:normAutofit/>
          </a:bodyPr>
          <a:lstStyle/>
          <a:p>
            <a:pPr algn="l" indent="0" marL="0">
              <a:lnSpc>
                <a:spcPts val="5460"/>
              </a:lnSpc>
              <a:buNone/>
            </a:pPr>
            <a:r>
              <a:rPr lang="en-US" sz="5200" b="1" i="0" dirty="0">
                <a:solidFill>
                  <a:srgbClr val="F6F4EE"/>
                </a:solidFill>
                <a:latin typeface="DM Sans" pitchFamily="34" charset="0"/>
                <a:ea typeface="DM Sans" pitchFamily="34" charset="-122"/>
                <a:cs typeface="DM Sans" pitchFamily="34" charset="-120"/>
              </a:rPr>
              <a:t>Sonido Vivo: </a:t>
            </a:r>
            <a:endParaRPr lang="en-US" sz="5200" dirty="0"/>
          </a:p>
          <a:p>
            <a:pPr algn="l" indent="0" marL="0">
              <a:lnSpc>
                <a:spcPts val="5460"/>
              </a:lnSpc>
              <a:buNone/>
            </a:pPr>
            <a:r>
              <a:rPr lang="en-US" sz="5200" b="1" i="0" dirty="0">
                <a:solidFill>
                  <a:srgbClr val="F6F4EE"/>
                </a:solidFill>
                <a:latin typeface="DM Sans" pitchFamily="34" charset="0"/>
                <a:ea typeface="DM Sans" pitchFamily="34" charset="-122"/>
                <a:cs typeface="DM Sans" pitchFamily="34" charset="-120"/>
              </a:rPr>
              <a:t>La lógica del negocio </a:t>
            </a:r>
            <a:endParaRPr lang="en-US" sz="5200" dirty="0"/>
          </a:p>
        </p:txBody>
      </p:sp>
      <p:sp>
        <p:nvSpPr>
          <p:cNvPr id="4" name="Text 2"/>
          <p:cNvSpPr/>
          <p:nvPr/>
        </p:nvSpPr>
        <p:spPr>
          <a:xfrm>
            <a:off x="812800" y="5759450"/>
            <a:ext cx="10883392"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7D0DC"/>
                </a:solidFill>
                <a:latin typeface="DM Sans" pitchFamily="34" charset="0"/>
                <a:ea typeface="DM Sans" pitchFamily="34" charset="-122"/>
                <a:cs typeface="DM Sans" pitchFamily="34" charset="-120"/>
              </a:rPr>
              <a:t>Dylan Sandoval - Víctor Martinez ·  Danilo Sepúlveda </a:t>
            </a:r>
            <a:endParaRPr lang="en-US" sz="1600" dirty="0"/>
          </a:p>
          <a:p>
            <a:pPr algn="l" indent="0" marL="0">
              <a:lnSpc>
                <a:spcPts val="2240"/>
              </a:lnSpc>
              <a:buNone/>
            </a:pPr>
            <a:r>
              <a:rPr lang="en-US" sz="1600" dirty="0">
                <a:solidFill>
                  <a:srgbClr val="C7D0DC"/>
                </a:solidFill>
                <a:latin typeface="DM Sans" pitchFamily="34" charset="0"/>
                <a:ea typeface="DM Sans" pitchFamily="34" charset="-122"/>
                <a:cs typeface="DM Sans" pitchFamily="34" charset="-120"/>
              </a:rPr>
              <a:t>29 - 10 - 26</a:t>
            </a:r>
            <a:endParaRPr lang="en-US" sz="1600" dirty="0"/>
          </a:p>
        </p:txBody>
      </p:sp>
      <p:sp>
        <p:nvSpPr>
          <p:cNvPr id="5" name="Text 3"/>
          <p:cNvSpPr/>
          <p:nvPr/>
        </p:nvSpPr>
        <p:spPr>
          <a:xfrm>
            <a:off x="1061403" y="3909933"/>
            <a:ext cx="10883392" cy="38862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C7D0DC"/>
                </a:solidFill>
                <a:latin typeface="DM Sans" pitchFamily="34" charset="0"/>
                <a:ea typeface="DM Sans" pitchFamily="34" charset="-122"/>
                <a:cs typeface="DM Sans" pitchFamily="34" charset="-120"/>
              </a:rPr>
              <a:t>Funciones, procedimientos, package y triggers en PL/SQL</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A4540B"/>
                </a:solidFill>
                <a:latin typeface="DM Sans" pitchFamily="34" charset="0"/>
                <a:ea typeface="DM Sans" pitchFamily="34" charset="-122"/>
                <a:cs typeface="DM Sans" pitchFamily="34" charset="-120"/>
              </a:rPr>
              <a:t>EL CASO</a:t>
            </a:r>
            <a:endParaRPr lang="en-US" sz="1400" dirty="0"/>
          </a:p>
        </p:txBody>
      </p:sp>
      <p:sp>
        <p:nvSpPr>
          <p:cNvPr id="3" name="Text 1"/>
          <p:cNvSpPr/>
          <p:nvPr>
            <p:ph type="title"/>
          </p:nvPr>
        </p:nvSpPr>
        <p:spPr>
          <a:xfrm>
            <a:off x="812800" y="116332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01826"/>
                </a:solidFill>
                <a:latin typeface="DM Sans" pitchFamily="34" charset="0"/>
                <a:ea typeface="DM Sans" pitchFamily="34" charset="-122"/>
                <a:cs typeface="DM Sans" pitchFamily="34" charset="-120"/>
              </a:rPr>
              <a:t>Sonido Vivo</a:t>
            </a:r>
            <a:endParaRPr lang="en-US" sz="3200" dirty="0"/>
          </a:p>
        </p:txBody>
      </p:sp>
      <p:sp>
        <p:nvSpPr>
          <p:cNvPr id="4" name="Text 2"/>
          <p:cNvSpPr/>
          <p:nvPr/>
        </p:nvSpPr>
        <p:spPr>
          <a:xfrm>
            <a:off x="856234" y="1917700"/>
            <a:ext cx="10832338" cy="985520"/>
          </a:xfrm>
          <a:prstGeom prst="rect">
            <a:avLst/>
          </a:prstGeom>
          <a:noFill/>
          <a:ln/>
        </p:spPr>
        <p:txBody>
          <a:bodyPr wrap="square" lIns="0" tIns="0" rIns="0" bIns="0" rtlCol="0" anchor="t">
            <a:normAutofit/>
          </a:bodyPr>
          <a:lstStyle/>
          <a:p>
            <a:pPr algn="l" marL="210566" indent="-210566">
              <a:lnSpc>
                <a:spcPts val="2520"/>
              </a:lnSpc>
              <a:buSzPct val="100000"/>
              <a:buChar char="•"/>
            </a:pPr>
            <a:r>
              <a:rPr lang="en-US" sz="1800" dirty="0">
                <a:solidFill>
                  <a:srgbClr val="101826"/>
                </a:solidFill>
                <a:latin typeface="DM Sans" pitchFamily="34" charset="0"/>
                <a:ea typeface="DM Sans" pitchFamily="34" charset="-122"/>
                <a:cs typeface="DM Sans" pitchFamily="34" charset="-120"/>
              </a:rPr>
              <a:t>Una tienda de instrumentos que liquida a sus clientes con descuento y controla su stock.</a:t>
            </a:r>
            <a:endParaRPr lang="en-US" sz="1800" dirty="0"/>
          </a:p>
          <a:p>
            <a:pPr algn="l" marL="210566" indent="-210566">
              <a:lnSpc>
                <a:spcPts val="2520"/>
              </a:lnSpc>
              <a:buSzPct val="100000"/>
              <a:buChar char="•"/>
            </a:pPr>
            <a:r>
              <a:rPr lang="en-US" sz="1800" dirty="0">
                <a:solidFill>
                  <a:srgbClr val="101826"/>
                </a:solidFill>
                <a:latin typeface="DM Sans" pitchFamily="34" charset="0"/>
                <a:ea typeface="DM Sans" pitchFamily="34" charset="-122"/>
                <a:cs typeface="DM Sans" pitchFamily="34" charset="-120"/>
              </a:rPr>
              <a:t>Sin reglas centralizadas, el descuento y el stock se calculan distinto en cada programa.</a:t>
            </a:r>
            <a:endParaRPr lang="en-US" sz="1800" dirty="0"/>
          </a:p>
          <a:p>
            <a:pPr algn="l" marL="210566" indent="-210566">
              <a:lnSpc>
                <a:spcPts val="2520"/>
              </a:lnSpc>
              <a:buSzPct val="100000"/>
              <a:buChar char="•"/>
            </a:pPr>
            <a:r>
              <a:rPr lang="en-US" sz="1800" b="1" dirty="0">
                <a:solidFill>
                  <a:srgbClr val="101826"/>
                </a:solidFill>
                <a:latin typeface="DM Sans" pitchFamily="34" charset="0"/>
                <a:ea typeface="DM Sans" pitchFamily="34" charset="-122"/>
                <a:cs typeface="DM Sans" pitchFamily="34" charset="-120"/>
              </a:rPr>
              <a:t>Solución:</a:t>
            </a:r>
            <a:r>
              <a:rPr lang="en-US" sz="1800" dirty="0">
                <a:solidFill>
                  <a:srgbClr val="101826"/>
                </a:solidFill>
                <a:latin typeface="DM Sans" pitchFamily="34" charset="0"/>
                <a:ea typeface="DM Sans" pitchFamily="34" charset="-122"/>
                <a:cs typeface="DM Sans" pitchFamily="34" charset="-120"/>
              </a:rPr>
              <a:t> llevar esas reglas a la base de datos.</a:t>
            </a:r>
            <a:endParaRPr lang="en-US" sz="1800" dirty="0"/>
          </a:p>
        </p:txBody>
      </p:sp>
      <p:sp>
        <p:nvSpPr>
          <p:cNvPr id="5" name="Shape 3"/>
          <p:cNvSpPr/>
          <p:nvPr/>
        </p:nvSpPr>
        <p:spPr>
          <a:xfrm>
            <a:off x="812800" y="3181350"/>
            <a:ext cx="2527300" cy="1397000"/>
          </a:xfrm>
          <a:prstGeom prst="roundRect">
            <a:avLst>
              <a:gd name="adj" fmla="val 7273"/>
            </a:avLst>
          </a:prstGeom>
          <a:solidFill>
            <a:srgbClr val="101826"/>
          </a:solidFill>
          <a:ln/>
        </p:spPr>
      </p:sp>
      <p:sp>
        <p:nvSpPr>
          <p:cNvPr id="6" name="Text 4"/>
          <p:cNvSpPr/>
          <p:nvPr/>
        </p:nvSpPr>
        <p:spPr>
          <a:xfrm>
            <a:off x="990600" y="3359150"/>
            <a:ext cx="2236851"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F0A35C"/>
                </a:solidFill>
                <a:latin typeface="DM Sans" pitchFamily="34" charset="0"/>
                <a:ea typeface="DM Sans" pitchFamily="34" charset="-122"/>
                <a:cs typeface="DM Sans" pitchFamily="34" charset="-120"/>
              </a:rPr>
              <a:t>2</a:t>
            </a:r>
            <a:endParaRPr lang="en-US" sz="3200" dirty="0"/>
          </a:p>
        </p:txBody>
      </p:sp>
      <p:sp>
        <p:nvSpPr>
          <p:cNvPr id="7" name="Text 5"/>
          <p:cNvSpPr/>
          <p:nvPr/>
        </p:nvSpPr>
        <p:spPr>
          <a:xfrm>
            <a:off x="990600" y="3816350"/>
            <a:ext cx="2236851"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6F4EE"/>
                </a:solidFill>
                <a:latin typeface="DM Sans" pitchFamily="34" charset="0"/>
                <a:ea typeface="DM Sans" pitchFamily="34" charset="-122"/>
                <a:cs typeface="DM Sans" pitchFamily="34" charset="-120"/>
              </a:rPr>
              <a:t>Procedimientos</a:t>
            </a:r>
            <a:endParaRPr lang="en-US" sz="1600" dirty="0"/>
          </a:p>
        </p:txBody>
      </p:sp>
      <p:sp>
        <p:nvSpPr>
          <p:cNvPr id="8" name="Text 6"/>
          <p:cNvSpPr/>
          <p:nvPr/>
        </p:nvSpPr>
        <p:spPr>
          <a:xfrm>
            <a:off x="990600" y="4151630"/>
            <a:ext cx="2236851"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0A35C"/>
                </a:solidFill>
                <a:latin typeface="DM Sans" pitchFamily="34" charset="0"/>
                <a:ea typeface="DM Sans" pitchFamily="34" charset="-122"/>
                <a:cs typeface="DM Sans" pitchFamily="34" charset="-120"/>
              </a:rPr>
              <a:t>ejecutan</a:t>
            </a:r>
            <a:endParaRPr lang="en-US" sz="1400" dirty="0"/>
          </a:p>
        </p:txBody>
      </p:sp>
      <p:sp>
        <p:nvSpPr>
          <p:cNvPr id="9" name="Shape 7"/>
          <p:cNvSpPr/>
          <p:nvPr/>
        </p:nvSpPr>
        <p:spPr>
          <a:xfrm>
            <a:off x="3492500" y="3181350"/>
            <a:ext cx="2527300" cy="1397000"/>
          </a:xfrm>
          <a:prstGeom prst="roundRect">
            <a:avLst>
              <a:gd name="adj" fmla="val 7273"/>
            </a:avLst>
          </a:prstGeom>
          <a:solidFill>
            <a:srgbClr val="101826"/>
          </a:solidFill>
          <a:ln/>
        </p:spPr>
      </p:sp>
      <p:sp>
        <p:nvSpPr>
          <p:cNvPr id="10" name="Text 8"/>
          <p:cNvSpPr/>
          <p:nvPr/>
        </p:nvSpPr>
        <p:spPr>
          <a:xfrm>
            <a:off x="3670300" y="3359150"/>
            <a:ext cx="2236851"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F0A35C"/>
                </a:solidFill>
                <a:latin typeface="DM Sans" pitchFamily="34" charset="0"/>
                <a:ea typeface="DM Sans" pitchFamily="34" charset="-122"/>
                <a:cs typeface="DM Sans" pitchFamily="34" charset="-120"/>
              </a:rPr>
              <a:t>2</a:t>
            </a:r>
            <a:endParaRPr lang="en-US" sz="3200" dirty="0"/>
          </a:p>
        </p:txBody>
      </p:sp>
      <p:sp>
        <p:nvSpPr>
          <p:cNvPr id="11" name="Text 9"/>
          <p:cNvSpPr/>
          <p:nvPr/>
        </p:nvSpPr>
        <p:spPr>
          <a:xfrm>
            <a:off x="3670300" y="3816350"/>
            <a:ext cx="2236851"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6F4EE"/>
                </a:solidFill>
                <a:latin typeface="DM Sans" pitchFamily="34" charset="0"/>
                <a:ea typeface="DM Sans" pitchFamily="34" charset="-122"/>
                <a:cs typeface="DM Sans" pitchFamily="34" charset="-120"/>
              </a:rPr>
              <a:t>Funciones</a:t>
            </a:r>
            <a:endParaRPr lang="en-US" sz="1600" dirty="0"/>
          </a:p>
        </p:txBody>
      </p:sp>
      <p:sp>
        <p:nvSpPr>
          <p:cNvPr id="12" name="Text 10"/>
          <p:cNvSpPr/>
          <p:nvPr/>
        </p:nvSpPr>
        <p:spPr>
          <a:xfrm>
            <a:off x="3670300" y="4151630"/>
            <a:ext cx="2236851"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0A35C"/>
                </a:solidFill>
                <a:latin typeface="DM Sans" pitchFamily="34" charset="0"/>
                <a:ea typeface="DM Sans" pitchFamily="34" charset="-122"/>
                <a:cs typeface="DM Sans" pitchFamily="34" charset="-120"/>
              </a:rPr>
              <a:t>calculan</a:t>
            </a:r>
            <a:endParaRPr lang="en-US" sz="1400" dirty="0"/>
          </a:p>
        </p:txBody>
      </p:sp>
      <p:sp>
        <p:nvSpPr>
          <p:cNvPr id="13" name="Shape 11"/>
          <p:cNvSpPr/>
          <p:nvPr/>
        </p:nvSpPr>
        <p:spPr>
          <a:xfrm>
            <a:off x="6172200" y="3181350"/>
            <a:ext cx="2527300" cy="1397000"/>
          </a:xfrm>
          <a:prstGeom prst="roundRect">
            <a:avLst>
              <a:gd name="adj" fmla="val 7273"/>
            </a:avLst>
          </a:prstGeom>
          <a:solidFill>
            <a:srgbClr val="101826"/>
          </a:solidFill>
          <a:ln/>
        </p:spPr>
      </p:sp>
      <p:sp>
        <p:nvSpPr>
          <p:cNvPr id="14" name="Text 12"/>
          <p:cNvSpPr/>
          <p:nvPr/>
        </p:nvSpPr>
        <p:spPr>
          <a:xfrm>
            <a:off x="6350000" y="3359150"/>
            <a:ext cx="2236851"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F0A35C"/>
                </a:solidFill>
                <a:latin typeface="DM Sans" pitchFamily="34" charset="0"/>
                <a:ea typeface="DM Sans" pitchFamily="34" charset="-122"/>
                <a:cs typeface="DM Sans" pitchFamily="34" charset="-120"/>
              </a:rPr>
              <a:t>2</a:t>
            </a:r>
            <a:endParaRPr lang="en-US" sz="3200" dirty="0"/>
          </a:p>
        </p:txBody>
      </p:sp>
      <p:sp>
        <p:nvSpPr>
          <p:cNvPr id="15" name="Text 13"/>
          <p:cNvSpPr/>
          <p:nvPr/>
        </p:nvSpPr>
        <p:spPr>
          <a:xfrm>
            <a:off x="6350000" y="3816350"/>
            <a:ext cx="2236851"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6F4EE"/>
                </a:solidFill>
                <a:latin typeface="DM Sans" pitchFamily="34" charset="0"/>
                <a:ea typeface="DM Sans" pitchFamily="34" charset="-122"/>
                <a:cs typeface="DM Sans" pitchFamily="34" charset="-120"/>
              </a:rPr>
              <a:t>Triggers</a:t>
            </a:r>
            <a:endParaRPr lang="en-US" sz="1600" dirty="0"/>
          </a:p>
        </p:txBody>
      </p:sp>
      <p:sp>
        <p:nvSpPr>
          <p:cNvPr id="16" name="Text 14"/>
          <p:cNvSpPr/>
          <p:nvPr/>
        </p:nvSpPr>
        <p:spPr>
          <a:xfrm>
            <a:off x="6350000" y="4151630"/>
            <a:ext cx="2236851"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0A35C"/>
                </a:solidFill>
                <a:latin typeface="DM Sans" pitchFamily="34" charset="0"/>
                <a:ea typeface="DM Sans" pitchFamily="34" charset="-122"/>
                <a:cs typeface="DM Sans" pitchFamily="34" charset="-120"/>
              </a:rPr>
              <a:t>reaccionan</a:t>
            </a:r>
            <a:endParaRPr lang="en-US" sz="1400" dirty="0"/>
          </a:p>
        </p:txBody>
      </p:sp>
      <p:sp>
        <p:nvSpPr>
          <p:cNvPr id="17" name="Shape 15"/>
          <p:cNvSpPr/>
          <p:nvPr/>
        </p:nvSpPr>
        <p:spPr>
          <a:xfrm>
            <a:off x="8851900" y="3181350"/>
            <a:ext cx="2527300" cy="1397000"/>
          </a:xfrm>
          <a:prstGeom prst="roundRect">
            <a:avLst>
              <a:gd name="adj" fmla="val 7273"/>
            </a:avLst>
          </a:prstGeom>
          <a:solidFill>
            <a:srgbClr val="101826"/>
          </a:solidFill>
          <a:ln/>
        </p:spPr>
      </p:sp>
      <p:sp>
        <p:nvSpPr>
          <p:cNvPr id="18" name="Text 16"/>
          <p:cNvSpPr/>
          <p:nvPr/>
        </p:nvSpPr>
        <p:spPr>
          <a:xfrm>
            <a:off x="9029700" y="3359150"/>
            <a:ext cx="2236851"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F0A35C"/>
                </a:solidFill>
                <a:latin typeface="DM Sans" pitchFamily="34" charset="0"/>
                <a:ea typeface="DM Sans" pitchFamily="34" charset="-122"/>
                <a:cs typeface="DM Sans" pitchFamily="34" charset="-120"/>
              </a:rPr>
              <a:t>1</a:t>
            </a:r>
            <a:endParaRPr lang="en-US" sz="3200" dirty="0"/>
          </a:p>
        </p:txBody>
      </p:sp>
      <p:sp>
        <p:nvSpPr>
          <p:cNvPr id="19" name="Text 17"/>
          <p:cNvSpPr/>
          <p:nvPr/>
        </p:nvSpPr>
        <p:spPr>
          <a:xfrm>
            <a:off x="9029700" y="3816350"/>
            <a:ext cx="2236851"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6F4EE"/>
                </a:solidFill>
                <a:latin typeface="DM Sans" pitchFamily="34" charset="0"/>
                <a:ea typeface="DM Sans" pitchFamily="34" charset="-122"/>
                <a:cs typeface="DM Sans" pitchFamily="34" charset="-120"/>
              </a:rPr>
              <a:t>Package</a:t>
            </a:r>
            <a:endParaRPr lang="en-US" sz="1600" dirty="0"/>
          </a:p>
        </p:txBody>
      </p:sp>
      <p:sp>
        <p:nvSpPr>
          <p:cNvPr id="20" name="Text 18"/>
          <p:cNvSpPr/>
          <p:nvPr/>
        </p:nvSpPr>
        <p:spPr>
          <a:xfrm>
            <a:off x="9029700" y="4151630"/>
            <a:ext cx="2236851"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0A35C"/>
                </a:solidFill>
                <a:latin typeface="DM Sans" pitchFamily="34" charset="0"/>
                <a:ea typeface="DM Sans" pitchFamily="34" charset="-122"/>
                <a:cs typeface="DM Sans" pitchFamily="34" charset="-120"/>
              </a:rPr>
              <a:t>agrupa 8 elementos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01826"/>
        </a:solidFill>
      </p:bgPr>
    </p:bg>
    <p:spTree>
      <p:nvGrpSpPr>
        <p:cNvPr id="1" name=""/>
        <p:cNvGrpSpPr/>
        <p:nvPr/>
      </p:nvGrpSpPr>
      <p:grpSpPr>
        <a:xfrm>
          <a:off x="0" y="0"/>
          <a:ext cx="0" cy="0"/>
          <a:chOff x="0" y="0"/>
          <a:chExt cx="0" cy="0"/>
        </a:xfrm>
      </p:grpSpPr>
      <p:sp>
        <p:nvSpPr>
          <p:cNvPr id="2" name="Shape 0"/>
          <p:cNvSpPr/>
          <p:nvPr/>
        </p:nvSpPr>
        <p:spPr>
          <a:xfrm>
            <a:off x="812800" y="2453641"/>
            <a:ext cx="4857750" cy="1955800"/>
          </a:xfrm>
          <a:prstGeom prst="roundRect">
            <a:avLst>
              <a:gd name="adj" fmla="val 5195"/>
            </a:avLst>
          </a:prstGeom>
          <a:solidFill>
            <a:srgbClr val="1A2638"/>
          </a:solidFill>
          <a:ln/>
        </p:spPr>
      </p:sp>
      <p:sp>
        <p:nvSpPr>
          <p:cNvPr id="3" name="Text 1"/>
          <p:cNvSpPr/>
          <p:nvPr/>
        </p:nvSpPr>
        <p:spPr>
          <a:xfrm>
            <a:off x="1041400" y="2682241"/>
            <a:ext cx="4532567"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C7D0DC"/>
                </a:solidFill>
                <a:latin typeface="DM Sans" pitchFamily="34" charset="0"/>
                <a:ea typeface="DM Sans" pitchFamily="34" charset="-122"/>
                <a:cs typeface="DM Sans" pitchFamily="34" charset="-120"/>
              </a:rPr>
              <a:t>Bloque anónimo</a:t>
            </a:r>
            <a:endParaRPr lang="en-US" sz="1800" dirty="0"/>
          </a:p>
        </p:txBody>
      </p:sp>
      <p:sp>
        <p:nvSpPr>
          <p:cNvPr id="4" name="Text 2"/>
          <p:cNvSpPr/>
          <p:nvPr/>
        </p:nvSpPr>
        <p:spPr>
          <a:xfrm>
            <a:off x="1041400" y="3070861"/>
            <a:ext cx="453256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7D0DC"/>
                </a:solidFill>
                <a:latin typeface="DM Sans" pitchFamily="34" charset="0"/>
                <a:ea typeface="DM Sans" pitchFamily="34" charset="-122"/>
                <a:cs typeface="DM Sans" pitchFamily="34" charset="-120"/>
              </a:rPr>
              <a:t>Un solo bloque hacía todo: las tasas en un VARRAY, la regla del descuento dentro del LOOP y el INSERT.</a:t>
            </a:r>
            <a:endParaRPr lang="en-US" sz="1400" dirty="0"/>
          </a:p>
        </p:txBody>
      </p:sp>
      <p:sp>
        <p:nvSpPr>
          <p:cNvPr id="5" name="Text 3"/>
          <p:cNvSpPr/>
          <p:nvPr/>
        </p:nvSpPr>
        <p:spPr>
          <a:xfrm>
            <a:off x="1041400" y="3683000"/>
            <a:ext cx="453256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7D0DC"/>
                </a:solidFill>
                <a:latin typeface="DM Sans" pitchFamily="34" charset="0"/>
                <a:ea typeface="DM Sans" pitchFamily="34" charset="-122"/>
                <a:cs typeface="DM Sans" pitchFamily="34" charset="-120"/>
              </a:rPr>
              <a:t>No queda guardado: para liquidar otra vez hay que correr el script completo.</a:t>
            </a:r>
            <a:endParaRPr lang="en-US" sz="1400" dirty="0"/>
          </a:p>
        </p:txBody>
      </p:sp>
      <p:sp>
        <p:nvSpPr>
          <p:cNvPr id="6" name="Text 4"/>
          <p:cNvSpPr/>
          <p:nvPr/>
        </p:nvSpPr>
        <p:spPr>
          <a:xfrm>
            <a:off x="5899150" y="3145791"/>
            <a:ext cx="487680" cy="59436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F0A35C"/>
                </a:solidFill>
                <a:latin typeface="DM Sans" pitchFamily="34" charset="0"/>
                <a:ea typeface="DM Sans" pitchFamily="34" charset="-122"/>
                <a:cs typeface="DM Sans" pitchFamily="34" charset="-120"/>
              </a:rPr>
              <a:t>→</a:t>
            </a:r>
            <a:endParaRPr lang="en-US" sz="3200" dirty="0"/>
          </a:p>
        </p:txBody>
      </p:sp>
      <p:sp>
        <p:nvSpPr>
          <p:cNvPr id="7" name="Shape 5"/>
          <p:cNvSpPr/>
          <p:nvPr/>
        </p:nvSpPr>
        <p:spPr>
          <a:xfrm>
            <a:off x="6537325" y="2460625"/>
            <a:ext cx="4832350" cy="1936750"/>
          </a:xfrm>
          <a:prstGeom prst="roundRect">
            <a:avLst>
              <a:gd name="adj" fmla="val 4754"/>
            </a:avLst>
          </a:prstGeom>
          <a:solidFill>
            <a:srgbClr val="1A2638"/>
          </a:solidFill>
          <a:ln w="19050">
            <a:solidFill>
              <a:srgbClr val="E8913A"/>
            </a:solidFill>
            <a:prstDash val="solid"/>
          </a:ln>
        </p:spPr>
      </p:sp>
      <p:sp>
        <p:nvSpPr>
          <p:cNvPr id="8" name="Text 6"/>
          <p:cNvSpPr/>
          <p:nvPr/>
        </p:nvSpPr>
        <p:spPr>
          <a:xfrm>
            <a:off x="6752590" y="2675891"/>
            <a:ext cx="4533875"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0A35C"/>
                </a:solidFill>
                <a:latin typeface="DM Sans" pitchFamily="34" charset="0"/>
                <a:ea typeface="DM Sans" pitchFamily="34" charset="-122"/>
                <a:cs typeface="DM Sans" pitchFamily="34" charset="-120"/>
              </a:rPr>
              <a:t>Objetos con nombre</a:t>
            </a:r>
            <a:endParaRPr lang="en-US" sz="1800" dirty="0"/>
          </a:p>
        </p:txBody>
      </p:sp>
      <p:sp>
        <p:nvSpPr>
          <p:cNvPr id="9" name="Text 7"/>
          <p:cNvSpPr/>
          <p:nvPr/>
        </p:nvSpPr>
        <p:spPr>
          <a:xfrm>
            <a:off x="6752590" y="3064511"/>
            <a:ext cx="4533875"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6F4EE"/>
                </a:solidFill>
                <a:latin typeface="DM Sans" pitchFamily="34" charset="0"/>
                <a:ea typeface="DM Sans" pitchFamily="34" charset="-122"/>
                <a:cs typeface="DM Sans" pitchFamily="34" charset="-120"/>
              </a:rPr>
              <a:t>La regla pasó a una función y el proceso a un procedimiento que la llama.</a:t>
            </a:r>
            <a:endParaRPr lang="en-US" sz="1400" dirty="0"/>
          </a:p>
        </p:txBody>
      </p:sp>
      <p:sp>
        <p:nvSpPr>
          <p:cNvPr id="10" name="Text 8"/>
          <p:cNvSpPr/>
          <p:nvPr/>
        </p:nvSpPr>
        <p:spPr>
          <a:xfrm>
            <a:off x="6752590" y="3676650"/>
            <a:ext cx="4533875"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6F4EE"/>
                </a:solidFill>
                <a:latin typeface="DM Sans" pitchFamily="34" charset="0"/>
                <a:ea typeface="DM Sans" pitchFamily="34" charset="-122"/>
                <a:cs typeface="DM Sans" pitchFamily="34" charset="-120"/>
              </a:rPr>
              <a:t>Quedan guardados y compilados en la base: se ejecutan cuando se necesiten.</a:t>
            </a:r>
            <a:endParaRPr lang="en-US" sz="1400" dirty="0"/>
          </a:p>
        </p:txBody>
      </p:sp>
      <p:sp>
        <p:nvSpPr>
          <p:cNvPr id="11" name="Text 9"/>
          <p:cNvSpPr/>
          <p:nvPr>
            <p:ph type="title"/>
          </p:nvPr>
        </p:nvSpPr>
        <p:spPr>
          <a:xfrm>
            <a:off x="812800" y="1014413"/>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F6F4EE"/>
                </a:solidFill>
                <a:latin typeface="DM Sans" pitchFamily="34" charset="0"/>
                <a:ea typeface="DM Sans" pitchFamily="34" charset="-122"/>
                <a:cs typeface="DM Sans" pitchFamily="34" charset="-120"/>
              </a:rPr>
              <a:t>De bloques anónimos a objetos con nombre</a:t>
            </a:r>
            <a:endParaRPr lang="en-US"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711200" y="457200"/>
            <a:ext cx="11092688"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4540B"/>
                </a:solidFill>
                <a:latin typeface="DM Sans" pitchFamily="34" charset="0"/>
                <a:ea typeface="DM Sans" pitchFamily="34" charset="-122"/>
                <a:cs typeface="DM Sans" pitchFamily="34" charset="-120"/>
              </a:rPr>
              <a:t>FLUJO DE NEGOCIO</a:t>
            </a:r>
            <a:endParaRPr lang="en-US" sz="1200" dirty="0"/>
          </a:p>
        </p:txBody>
      </p:sp>
      <p:sp>
        <p:nvSpPr>
          <p:cNvPr id="3" name="Text 1"/>
          <p:cNvSpPr/>
          <p:nvPr>
            <p:ph type="title"/>
          </p:nvPr>
        </p:nvSpPr>
        <p:spPr>
          <a:xfrm>
            <a:off x="711200" y="721361"/>
            <a:ext cx="11092688" cy="388620"/>
          </a:xfrm>
          <a:prstGeom prst="rect">
            <a:avLst/>
          </a:prstGeom>
          <a:noFill/>
          <a:ln/>
        </p:spPr>
        <p:txBody>
          <a:bodyPr wrap="square" lIns="0" tIns="0" rIns="0" bIns="0" rtlCol="0" anchor="t">
            <a:normAutofit/>
          </a:bodyPr>
          <a:lstStyle/>
          <a:p>
            <a:pPr algn="l" indent="0" marL="0">
              <a:lnSpc>
                <a:spcPts val="2860"/>
              </a:lnSpc>
              <a:buNone/>
            </a:pPr>
            <a:r>
              <a:rPr lang="en-US" sz="2600" b="1" i="0" dirty="0">
                <a:solidFill>
                  <a:srgbClr val="101826"/>
                </a:solidFill>
                <a:latin typeface="DM Sans" pitchFamily="34" charset="0"/>
                <a:ea typeface="DM Sans" pitchFamily="34" charset="-122"/>
                <a:cs typeface="DM Sans" pitchFamily="34" charset="-120"/>
              </a:rPr>
              <a:t>Cómo trabaja la tienda con sus objetos</a:t>
            </a:r>
            <a:endParaRPr lang="en-US" sz="2600" dirty="0"/>
          </a:p>
        </p:txBody>
      </p:sp>
      <p:sp>
        <p:nvSpPr>
          <p:cNvPr id="4" name="Text 2"/>
          <p:cNvSpPr/>
          <p:nvPr/>
        </p:nvSpPr>
        <p:spPr>
          <a:xfrm>
            <a:off x="711200" y="1211580"/>
            <a:ext cx="291846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01826"/>
                </a:solidFill>
                <a:latin typeface="DM Sans" pitchFamily="34" charset="0"/>
                <a:ea typeface="DM Sans" pitchFamily="34" charset="-122"/>
                <a:cs typeface="DM Sans" pitchFamily="34" charset="-120"/>
              </a:rPr>
              <a:t>1 · Cada vez que hay una venta</a:t>
            </a:r>
            <a:endParaRPr lang="en-US" sz="1300" dirty="0"/>
          </a:p>
        </p:txBody>
      </p:sp>
      <p:sp>
        <p:nvSpPr>
          <p:cNvPr id="5" name="Text 3"/>
          <p:cNvSpPr/>
          <p:nvPr/>
        </p:nvSpPr>
        <p:spPr>
          <a:xfrm>
            <a:off x="8377364" y="1236980"/>
            <a:ext cx="3103435" cy="220980"/>
          </a:xfrm>
          <a:prstGeom prst="rect">
            <a:avLst/>
          </a:prstGeom>
          <a:noFill/>
          <a:ln/>
        </p:spPr>
        <p:txBody>
          <a:bodyPr wrap="square" lIns="0" tIns="0" rIns="0" bIns="0" rtlCol="0" anchor="t">
            <a:normAutofit/>
          </a:bodyPr>
          <a:lstStyle/>
          <a:p>
            <a:pPr algn="r" indent="0" marL="0">
              <a:lnSpc>
                <a:spcPts val="1540"/>
              </a:lnSpc>
              <a:buNone/>
            </a:pPr>
            <a:r>
              <a:rPr lang="en-US" sz="1100" dirty="0">
                <a:solidFill>
                  <a:srgbClr val="B5301F"/>
                </a:solidFill>
                <a:latin typeface="DM Sans" pitchFamily="34" charset="0"/>
                <a:ea typeface="DM Sans" pitchFamily="34" charset="-122"/>
                <a:cs typeface="DM Sans" pitchFamily="34" charset="-120"/>
              </a:rPr>
              <a:t>Si algo falla: ROLLBACK + LOG_ERRORES</a:t>
            </a:r>
            <a:endParaRPr lang="en-US" sz="1100" dirty="0"/>
          </a:p>
        </p:txBody>
      </p:sp>
      <p:sp>
        <p:nvSpPr>
          <p:cNvPr id="6" name="Shape 4"/>
          <p:cNvSpPr/>
          <p:nvPr/>
        </p:nvSpPr>
        <p:spPr>
          <a:xfrm>
            <a:off x="711200" y="1518920"/>
            <a:ext cx="2482850" cy="1062990"/>
          </a:xfrm>
          <a:prstGeom prst="roundRect">
            <a:avLst>
              <a:gd name="adj" fmla="val 7168"/>
            </a:avLst>
          </a:prstGeom>
          <a:solidFill>
            <a:srgbClr val="101826"/>
          </a:solidFill>
          <a:ln/>
        </p:spPr>
      </p:sp>
      <p:sp>
        <p:nvSpPr>
          <p:cNvPr id="7" name="Shape 5"/>
          <p:cNvSpPr/>
          <p:nvPr/>
        </p:nvSpPr>
        <p:spPr>
          <a:xfrm>
            <a:off x="711200" y="1518920"/>
            <a:ext cx="2482850" cy="1062990"/>
          </a:xfrm>
          <a:custGeom>
            <a:avLst/>
            <a:gdLst/>
            <a:ahLst/>
            <a:cxnLst/>
            <a:rect l="l" t="t" r="r" b="b"/>
            <a:pathLst>
              <a:path w="2482850" h="1062990">
                <a:moveTo>
                  <a:pt x="0" y="76200"/>
                </a:moveTo>
                <a:lnTo>
                  <a:pt x="0" y="76200"/>
                </a:lnTo>
                <a:arcTo hR="76200" wR="76200" stAng="10800000" swAng="5400000"/>
                <a:lnTo>
                  <a:pt x="2406650" y="0"/>
                </a:lnTo>
                <a:arcTo hR="76200" wR="76200" stAng="16200000" swAng="5400000"/>
                <a:lnTo>
                  <a:pt x="2482850" y="76200"/>
                </a:lnTo>
                <a:arcTo hR="38100" wR="76200" stAng="0" swAng="-5400000"/>
                <a:lnTo>
                  <a:pt x="76200" y="38100"/>
                </a:lnTo>
                <a:arcTo hR="38100" wR="76200" stAng="16200000" swAng="-5400000"/>
                <a:close/>
              </a:path>
            </a:pathLst>
          </a:custGeom>
          <a:solidFill>
            <a:srgbClr val="E8913A"/>
          </a:solidFill>
          <a:ln/>
        </p:spPr>
      </p:sp>
      <p:sp>
        <p:nvSpPr>
          <p:cNvPr id="8" name="Text 6"/>
          <p:cNvSpPr/>
          <p:nvPr/>
        </p:nvSpPr>
        <p:spPr>
          <a:xfrm>
            <a:off x="850900" y="1656080"/>
            <a:ext cx="2269554" cy="203200"/>
          </a:xfrm>
          <a:prstGeom prst="rect">
            <a:avLst/>
          </a:prstGeom>
          <a:noFill/>
          <a:ln/>
        </p:spPr>
        <p:txBody>
          <a:bodyPr wrap="square" lIns="0" tIns="0" rIns="0" bIns="0" rtlCol="0" anchor="t">
            <a:normAutofit/>
          </a:bodyPr>
          <a:lstStyle/>
          <a:p>
            <a:pPr algn="l" indent="0" marL="0">
              <a:lnSpc>
                <a:spcPts val="1400"/>
              </a:lnSpc>
              <a:buNone/>
            </a:pPr>
            <a:r>
              <a:rPr lang="en-US" sz="1000" b="1" spc="50" kern="0" dirty="0">
                <a:solidFill>
                  <a:srgbClr val="F0A35C"/>
                </a:solidFill>
                <a:latin typeface="DM Sans" pitchFamily="34" charset="0"/>
                <a:ea typeface="DM Sans" pitchFamily="34" charset="-122"/>
                <a:cs typeface="DM Sans" pitchFamily="34" charset="-120"/>
              </a:rPr>
              <a:t>NEGOCIO</a:t>
            </a:r>
            <a:endParaRPr lang="en-US" sz="1000" dirty="0"/>
          </a:p>
        </p:txBody>
      </p:sp>
      <p:sp>
        <p:nvSpPr>
          <p:cNvPr id="9" name="Text 7"/>
          <p:cNvSpPr/>
          <p:nvPr/>
        </p:nvSpPr>
        <p:spPr>
          <a:xfrm>
            <a:off x="850900" y="1871980"/>
            <a:ext cx="2269554"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6F4EE"/>
                </a:solidFill>
                <a:latin typeface="DM Sans" pitchFamily="34" charset="0"/>
                <a:ea typeface="DM Sans" pitchFamily="34" charset="-122"/>
                <a:cs typeface="DM Sans" pitchFamily="34" charset="-120"/>
              </a:rPr>
              <a:t>Cliente compra</a:t>
            </a:r>
            <a:endParaRPr lang="en-US" sz="1400" dirty="0"/>
          </a:p>
        </p:txBody>
      </p:sp>
      <p:sp>
        <p:nvSpPr>
          <p:cNvPr id="10" name="Text 8"/>
          <p:cNvSpPr/>
          <p:nvPr/>
        </p:nvSpPr>
        <p:spPr>
          <a:xfrm>
            <a:off x="850900" y="2123441"/>
            <a:ext cx="2269554"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C7D0DC"/>
                </a:solidFill>
                <a:latin typeface="DM Sans" pitchFamily="34" charset="0"/>
                <a:ea typeface="DM Sans" pitchFamily="34" charset="-122"/>
                <a:cs typeface="DM Sans" pitchFamily="34" charset="-120"/>
              </a:rPr>
              <a:t>Cliente, producto, cantidad</a:t>
            </a:r>
            <a:endParaRPr lang="en-US" sz="1200" dirty="0"/>
          </a:p>
        </p:txBody>
      </p:sp>
      <p:sp>
        <p:nvSpPr>
          <p:cNvPr id="11" name="Text 9"/>
          <p:cNvSpPr/>
          <p:nvPr/>
        </p:nvSpPr>
        <p:spPr>
          <a:xfrm>
            <a:off x="3194050" y="1890395"/>
            <a:ext cx="279400" cy="345440"/>
          </a:xfrm>
          <a:prstGeom prst="rect">
            <a:avLst/>
          </a:prstGeom>
          <a:noFill/>
          <a:ln/>
        </p:spPr>
        <p:txBody>
          <a:bodyPr wrap="square" lIns="0" tIns="0" rIns="0" bIns="0" rtlCol="0" anchor="t">
            <a:normAutofit/>
          </a:bodyPr>
          <a:lstStyle/>
          <a:p>
            <a:pPr algn="ctr" indent="0" marL="0">
              <a:lnSpc>
                <a:spcPts val="2520"/>
              </a:lnSpc>
              <a:buNone/>
            </a:pPr>
            <a:r>
              <a:rPr lang="en-US" sz="1800" b="1" dirty="0">
                <a:solidFill>
                  <a:srgbClr val="E8913A"/>
                </a:solidFill>
                <a:latin typeface="DM Sans" pitchFamily="34" charset="0"/>
                <a:ea typeface="DM Sans" pitchFamily="34" charset="-122"/>
                <a:cs typeface="DM Sans" pitchFamily="34" charset="-120"/>
              </a:rPr>
              <a:t>→</a:t>
            </a:r>
            <a:endParaRPr lang="en-US" sz="1800" dirty="0"/>
          </a:p>
        </p:txBody>
      </p:sp>
      <p:sp>
        <p:nvSpPr>
          <p:cNvPr id="12" name="Shape 10"/>
          <p:cNvSpPr/>
          <p:nvPr/>
        </p:nvSpPr>
        <p:spPr>
          <a:xfrm>
            <a:off x="3473450" y="1518920"/>
            <a:ext cx="2482850" cy="1062990"/>
          </a:xfrm>
          <a:prstGeom prst="roundRect">
            <a:avLst>
              <a:gd name="adj" fmla="val 7168"/>
            </a:avLst>
          </a:prstGeom>
          <a:solidFill>
            <a:srgbClr val="FFFFFF"/>
          </a:solidFill>
          <a:ln/>
        </p:spPr>
      </p:sp>
      <p:sp>
        <p:nvSpPr>
          <p:cNvPr id="13" name="Shape 11"/>
          <p:cNvSpPr/>
          <p:nvPr/>
        </p:nvSpPr>
        <p:spPr>
          <a:xfrm>
            <a:off x="3473450" y="1518920"/>
            <a:ext cx="2482850" cy="1062990"/>
          </a:xfrm>
          <a:custGeom>
            <a:avLst/>
            <a:gdLst/>
            <a:ahLst/>
            <a:cxnLst/>
            <a:rect l="l" t="t" r="r" b="b"/>
            <a:pathLst>
              <a:path w="2482850" h="1062990">
                <a:moveTo>
                  <a:pt x="0" y="76200"/>
                </a:moveTo>
                <a:lnTo>
                  <a:pt x="0" y="76200"/>
                </a:lnTo>
                <a:arcTo hR="76200" wR="76200" stAng="10800000" swAng="5400000"/>
                <a:lnTo>
                  <a:pt x="2406650" y="0"/>
                </a:lnTo>
                <a:arcTo hR="76200" wR="76200" stAng="16200000" swAng="5400000"/>
                <a:lnTo>
                  <a:pt x="2482850" y="76200"/>
                </a:lnTo>
                <a:arcTo hR="38100" wR="76200" stAng="0" swAng="-5400000"/>
                <a:lnTo>
                  <a:pt x="76200" y="38100"/>
                </a:lnTo>
                <a:arcTo hR="38100" wR="76200" stAng="16200000" swAng="-5400000"/>
                <a:close/>
              </a:path>
            </a:pathLst>
          </a:custGeom>
          <a:solidFill>
            <a:srgbClr val="E8913A"/>
          </a:solidFill>
          <a:ln/>
        </p:spPr>
      </p:sp>
      <p:sp>
        <p:nvSpPr>
          <p:cNvPr id="14" name="Text 12"/>
          <p:cNvSpPr/>
          <p:nvPr/>
        </p:nvSpPr>
        <p:spPr>
          <a:xfrm>
            <a:off x="3613150" y="1656080"/>
            <a:ext cx="2269554" cy="203200"/>
          </a:xfrm>
          <a:prstGeom prst="rect">
            <a:avLst/>
          </a:prstGeom>
          <a:noFill/>
          <a:ln/>
        </p:spPr>
        <p:txBody>
          <a:bodyPr wrap="square" lIns="0" tIns="0" rIns="0" bIns="0" rtlCol="0" anchor="t">
            <a:normAutofit/>
          </a:bodyPr>
          <a:lstStyle/>
          <a:p>
            <a:pPr algn="l" indent="0" marL="0">
              <a:lnSpc>
                <a:spcPts val="1400"/>
              </a:lnSpc>
              <a:buNone/>
            </a:pPr>
            <a:r>
              <a:rPr lang="en-US" sz="1000" b="1" spc="50" kern="0" dirty="0">
                <a:solidFill>
                  <a:srgbClr val="A4540B"/>
                </a:solidFill>
                <a:latin typeface="DM Sans" pitchFamily="34" charset="0"/>
                <a:ea typeface="DM Sans" pitchFamily="34" charset="-122"/>
                <a:cs typeface="DM Sans" pitchFamily="34" charset="-120"/>
              </a:rPr>
              <a:t>PROCEDIMIENTO</a:t>
            </a:r>
            <a:endParaRPr lang="en-US" sz="1000" dirty="0"/>
          </a:p>
        </p:txBody>
      </p:sp>
      <p:sp>
        <p:nvSpPr>
          <p:cNvPr id="15" name="Text 13"/>
          <p:cNvSpPr/>
          <p:nvPr/>
        </p:nvSpPr>
        <p:spPr>
          <a:xfrm>
            <a:off x="3613150" y="1871980"/>
            <a:ext cx="2269554" cy="200660"/>
          </a:xfrm>
          <a:prstGeom prst="rect">
            <a:avLst/>
          </a:prstGeom>
          <a:noFill/>
          <a:ln/>
        </p:spPr>
        <p:txBody>
          <a:bodyPr wrap="square" lIns="0" tIns="0" rIns="0" bIns="0" rtlCol="0" anchor="t">
            <a:normAutofit/>
          </a:bodyPr>
          <a:lstStyle/>
          <a:p>
            <a:pPr algn="l" indent="0" marL="0">
              <a:lnSpc>
                <a:spcPts val="1380"/>
              </a:lnSpc>
              <a:buNone/>
            </a:pPr>
            <a:r>
              <a:rPr lang="en-US" sz="1150" b="1" dirty="0">
                <a:solidFill>
                  <a:srgbClr val="101826"/>
                </a:solidFill>
                <a:latin typeface="JetBrains Mono" pitchFamily="49" charset="0"/>
                <a:ea typeface="JetBrains Mono" pitchFamily="49" charset="-122"/>
                <a:cs typeface="JetBrains Mono" pitchFamily="49" charset="-120"/>
              </a:rPr>
              <a:t>SP_REGISTRAR_VENTA</a:t>
            </a:r>
            <a:endParaRPr lang="en-US" sz="1150" dirty="0"/>
          </a:p>
        </p:txBody>
      </p:sp>
      <p:sp>
        <p:nvSpPr>
          <p:cNvPr id="16" name="Text 14"/>
          <p:cNvSpPr/>
          <p:nvPr/>
        </p:nvSpPr>
        <p:spPr>
          <a:xfrm>
            <a:off x="3613150" y="2085341"/>
            <a:ext cx="2269554"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3B4452"/>
                </a:solidFill>
                <a:latin typeface="DM Sans" pitchFamily="34" charset="0"/>
                <a:ea typeface="DM Sans" pitchFamily="34" charset="-122"/>
                <a:cs typeface="DM Sans" pitchFamily="34" charset="-120"/>
              </a:rPr>
              <a:t>Valida y registra</a:t>
            </a:r>
            <a:endParaRPr lang="en-US" sz="1200" dirty="0"/>
          </a:p>
        </p:txBody>
      </p:sp>
      <p:sp>
        <p:nvSpPr>
          <p:cNvPr id="17" name="Text 15"/>
          <p:cNvSpPr/>
          <p:nvPr/>
        </p:nvSpPr>
        <p:spPr>
          <a:xfrm>
            <a:off x="5956300" y="1890395"/>
            <a:ext cx="279400" cy="345440"/>
          </a:xfrm>
          <a:prstGeom prst="rect">
            <a:avLst/>
          </a:prstGeom>
          <a:noFill/>
          <a:ln/>
        </p:spPr>
        <p:txBody>
          <a:bodyPr wrap="square" lIns="0" tIns="0" rIns="0" bIns="0" rtlCol="0" anchor="t">
            <a:normAutofit/>
          </a:bodyPr>
          <a:lstStyle/>
          <a:p>
            <a:pPr algn="ctr" indent="0" marL="0">
              <a:lnSpc>
                <a:spcPts val="2520"/>
              </a:lnSpc>
              <a:buNone/>
            </a:pPr>
            <a:r>
              <a:rPr lang="en-US" sz="1800" b="1" dirty="0">
                <a:solidFill>
                  <a:srgbClr val="E8913A"/>
                </a:solidFill>
                <a:latin typeface="DM Sans" pitchFamily="34" charset="0"/>
                <a:ea typeface="DM Sans" pitchFamily="34" charset="-122"/>
                <a:cs typeface="DM Sans" pitchFamily="34" charset="-120"/>
              </a:rPr>
              <a:t>→</a:t>
            </a:r>
            <a:endParaRPr lang="en-US" sz="1800" dirty="0"/>
          </a:p>
        </p:txBody>
      </p:sp>
      <p:sp>
        <p:nvSpPr>
          <p:cNvPr id="18" name="Shape 16"/>
          <p:cNvSpPr/>
          <p:nvPr/>
        </p:nvSpPr>
        <p:spPr>
          <a:xfrm>
            <a:off x="6235700" y="1518920"/>
            <a:ext cx="2482850" cy="1062990"/>
          </a:xfrm>
          <a:prstGeom prst="roundRect">
            <a:avLst>
              <a:gd name="adj" fmla="val 7168"/>
            </a:avLst>
          </a:prstGeom>
          <a:solidFill>
            <a:srgbClr val="FFFFFF"/>
          </a:solidFill>
          <a:ln/>
        </p:spPr>
      </p:sp>
      <p:sp>
        <p:nvSpPr>
          <p:cNvPr id="19" name="Shape 17"/>
          <p:cNvSpPr/>
          <p:nvPr/>
        </p:nvSpPr>
        <p:spPr>
          <a:xfrm>
            <a:off x="6235700" y="1518920"/>
            <a:ext cx="2482850" cy="1062990"/>
          </a:xfrm>
          <a:custGeom>
            <a:avLst/>
            <a:gdLst/>
            <a:ahLst/>
            <a:cxnLst/>
            <a:rect l="l" t="t" r="r" b="b"/>
            <a:pathLst>
              <a:path w="2482850" h="1062990">
                <a:moveTo>
                  <a:pt x="0" y="76200"/>
                </a:moveTo>
                <a:lnTo>
                  <a:pt x="0" y="76200"/>
                </a:lnTo>
                <a:arcTo hR="76200" wR="76200" stAng="10800000" swAng="5400000"/>
                <a:lnTo>
                  <a:pt x="2406650" y="0"/>
                </a:lnTo>
                <a:arcTo hR="76200" wR="76200" stAng="16200000" swAng="5400000"/>
                <a:lnTo>
                  <a:pt x="2482850" y="76200"/>
                </a:lnTo>
                <a:arcTo hR="38100" wR="76200" stAng="0" swAng="-5400000"/>
                <a:lnTo>
                  <a:pt x="76200" y="38100"/>
                </a:lnTo>
                <a:arcTo hR="38100" wR="76200" stAng="16200000" swAng="-5400000"/>
                <a:close/>
              </a:path>
            </a:pathLst>
          </a:custGeom>
          <a:solidFill>
            <a:srgbClr val="2B8CBE"/>
          </a:solidFill>
          <a:ln/>
        </p:spPr>
      </p:sp>
      <p:sp>
        <p:nvSpPr>
          <p:cNvPr id="20" name="Text 18"/>
          <p:cNvSpPr/>
          <p:nvPr/>
        </p:nvSpPr>
        <p:spPr>
          <a:xfrm>
            <a:off x="6375400" y="1656080"/>
            <a:ext cx="2269554" cy="203200"/>
          </a:xfrm>
          <a:prstGeom prst="rect">
            <a:avLst/>
          </a:prstGeom>
          <a:noFill/>
          <a:ln/>
        </p:spPr>
        <p:txBody>
          <a:bodyPr wrap="square" lIns="0" tIns="0" rIns="0" bIns="0" rtlCol="0" anchor="t">
            <a:normAutofit/>
          </a:bodyPr>
          <a:lstStyle/>
          <a:p>
            <a:pPr algn="l" indent="0" marL="0">
              <a:lnSpc>
                <a:spcPts val="1400"/>
              </a:lnSpc>
              <a:buNone/>
            </a:pPr>
            <a:r>
              <a:rPr lang="en-US" sz="1000" b="1" spc="50" kern="0" dirty="0">
                <a:solidFill>
                  <a:srgbClr val="2B6E8C"/>
                </a:solidFill>
                <a:latin typeface="DM Sans" pitchFamily="34" charset="0"/>
                <a:ea typeface="DM Sans" pitchFamily="34" charset="-122"/>
                <a:cs typeface="DM Sans" pitchFamily="34" charset="-120"/>
              </a:rPr>
              <a:t>TRIGGERS</a:t>
            </a:r>
            <a:endParaRPr lang="en-US" sz="1000" dirty="0"/>
          </a:p>
        </p:txBody>
      </p:sp>
      <p:sp>
        <p:nvSpPr>
          <p:cNvPr id="21" name="Text 19"/>
          <p:cNvSpPr/>
          <p:nvPr/>
        </p:nvSpPr>
        <p:spPr>
          <a:xfrm>
            <a:off x="6375400" y="1871980"/>
            <a:ext cx="2269554" cy="405130"/>
          </a:xfrm>
          <a:prstGeom prst="rect">
            <a:avLst/>
          </a:prstGeom>
          <a:noFill/>
          <a:ln/>
        </p:spPr>
        <p:txBody>
          <a:bodyPr wrap="square" lIns="0" tIns="0" rIns="0" bIns="0" rtlCol="0" anchor="t">
            <a:normAutofit/>
          </a:bodyPr>
          <a:lstStyle/>
          <a:p>
            <a:pPr algn="l" indent="0" marL="0">
              <a:lnSpc>
                <a:spcPts val="1495"/>
              </a:lnSpc>
              <a:buNone/>
            </a:pPr>
            <a:r>
              <a:rPr lang="en-US" sz="1150" b="1" dirty="0">
                <a:solidFill>
                  <a:srgbClr val="101826"/>
                </a:solidFill>
                <a:latin typeface="JetBrains Mono" pitchFamily="49" charset="0"/>
                <a:ea typeface="JetBrains Mono" pitchFamily="49" charset="-122"/>
                <a:cs typeface="JetBrains Mono" pitchFamily="49" charset="-120"/>
              </a:rPr>
              <a:t>TRG_DESCUENTA_STOCK</a:t>
            </a:r>
            <a:endParaRPr lang="en-US" sz="1150" dirty="0"/>
          </a:p>
          <a:p>
            <a:pPr algn="l" indent="0" marL="0">
              <a:lnSpc>
                <a:spcPts val="1495"/>
              </a:lnSpc>
              <a:buNone/>
            </a:pPr>
            <a:r>
              <a:rPr lang="en-US" sz="1150" b="1" dirty="0">
                <a:solidFill>
                  <a:srgbClr val="101826"/>
                </a:solidFill>
                <a:latin typeface="JetBrains Mono" pitchFamily="49" charset="0"/>
                <a:ea typeface="JetBrains Mono" pitchFamily="49" charset="-122"/>
                <a:cs typeface="JetBrains Mono" pitchFamily="49" charset="-120"/>
              </a:rPr>
              <a:t>TRG_AUDITA_VENTA</a:t>
            </a:r>
            <a:endParaRPr lang="en-US" sz="1150" dirty="0"/>
          </a:p>
        </p:txBody>
      </p:sp>
      <p:sp>
        <p:nvSpPr>
          <p:cNvPr id="22" name="Text 20"/>
          <p:cNvSpPr/>
          <p:nvPr/>
        </p:nvSpPr>
        <p:spPr>
          <a:xfrm>
            <a:off x="6375400" y="2289811"/>
            <a:ext cx="2269554"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3B4452"/>
                </a:solidFill>
                <a:latin typeface="DM Sans" pitchFamily="34" charset="0"/>
                <a:ea typeface="DM Sans" pitchFamily="34" charset="-122"/>
                <a:cs typeface="DM Sans" pitchFamily="34" charset="-120"/>
              </a:rPr>
              <a:t>Descuentan stock y anotan</a:t>
            </a:r>
            <a:endParaRPr lang="en-US" sz="1200" dirty="0"/>
          </a:p>
        </p:txBody>
      </p:sp>
      <p:sp>
        <p:nvSpPr>
          <p:cNvPr id="23" name="Text 21"/>
          <p:cNvSpPr/>
          <p:nvPr/>
        </p:nvSpPr>
        <p:spPr>
          <a:xfrm>
            <a:off x="8718550" y="1890395"/>
            <a:ext cx="279400" cy="345440"/>
          </a:xfrm>
          <a:prstGeom prst="rect">
            <a:avLst/>
          </a:prstGeom>
          <a:noFill/>
          <a:ln/>
        </p:spPr>
        <p:txBody>
          <a:bodyPr wrap="square" lIns="0" tIns="0" rIns="0" bIns="0" rtlCol="0" anchor="t">
            <a:normAutofit/>
          </a:bodyPr>
          <a:lstStyle/>
          <a:p>
            <a:pPr algn="ctr" indent="0" marL="0">
              <a:lnSpc>
                <a:spcPts val="2520"/>
              </a:lnSpc>
              <a:buNone/>
            </a:pPr>
            <a:r>
              <a:rPr lang="en-US" sz="1800" b="1" dirty="0">
                <a:solidFill>
                  <a:srgbClr val="E8913A"/>
                </a:solidFill>
                <a:latin typeface="DM Sans" pitchFamily="34" charset="0"/>
                <a:ea typeface="DM Sans" pitchFamily="34" charset="-122"/>
                <a:cs typeface="DM Sans" pitchFamily="34" charset="-120"/>
              </a:rPr>
              <a:t>→</a:t>
            </a:r>
            <a:endParaRPr lang="en-US" sz="1800" dirty="0"/>
          </a:p>
        </p:txBody>
      </p:sp>
      <p:sp>
        <p:nvSpPr>
          <p:cNvPr id="24" name="Shape 22"/>
          <p:cNvSpPr/>
          <p:nvPr/>
        </p:nvSpPr>
        <p:spPr>
          <a:xfrm>
            <a:off x="8997950" y="1518920"/>
            <a:ext cx="2482850" cy="1062990"/>
          </a:xfrm>
          <a:prstGeom prst="roundRect">
            <a:avLst>
              <a:gd name="adj" fmla="val 7168"/>
            </a:avLst>
          </a:prstGeom>
          <a:solidFill>
            <a:srgbClr val="101826"/>
          </a:solidFill>
          <a:ln/>
        </p:spPr>
      </p:sp>
      <p:sp>
        <p:nvSpPr>
          <p:cNvPr id="25" name="Shape 23"/>
          <p:cNvSpPr/>
          <p:nvPr/>
        </p:nvSpPr>
        <p:spPr>
          <a:xfrm>
            <a:off x="8997950" y="1518920"/>
            <a:ext cx="2482850" cy="1062990"/>
          </a:xfrm>
          <a:custGeom>
            <a:avLst/>
            <a:gdLst/>
            <a:ahLst/>
            <a:cxnLst/>
            <a:rect l="l" t="t" r="r" b="b"/>
            <a:pathLst>
              <a:path w="2482850" h="1062990">
                <a:moveTo>
                  <a:pt x="0" y="76200"/>
                </a:moveTo>
                <a:lnTo>
                  <a:pt x="0" y="76200"/>
                </a:lnTo>
                <a:arcTo hR="76200" wR="76200" stAng="10800000" swAng="5400000"/>
                <a:lnTo>
                  <a:pt x="2406650" y="0"/>
                </a:lnTo>
                <a:arcTo hR="76200" wR="76200" stAng="16200000" swAng="5400000"/>
                <a:lnTo>
                  <a:pt x="2482850" y="76200"/>
                </a:lnTo>
                <a:arcTo hR="38100" wR="76200" stAng="0" swAng="-5400000"/>
                <a:lnTo>
                  <a:pt x="76200" y="38100"/>
                </a:lnTo>
                <a:arcTo hR="38100" wR="76200" stAng="16200000" swAng="-5400000"/>
                <a:close/>
              </a:path>
            </a:pathLst>
          </a:custGeom>
          <a:solidFill>
            <a:srgbClr val="E8913A"/>
          </a:solidFill>
          <a:ln/>
        </p:spPr>
      </p:sp>
      <p:sp>
        <p:nvSpPr>
          <p:cNvPr id="26" name="Text 24"/>
          <p:cNvSpPr/>
          <p:nvPr/>
        </p:nvSpPr>
        <p:spPr>
          <a:xfrm>
            <a:off x="9137650" y="1656080"/>
            <a:ext cx="2269554" cy="203200"/>
          </a:xfrm>
          <a:prstGeom prst="rect">
            <a:avLst/>
          </a:prstGeom>
          <a:noFill/>
          <a:ln/>
        </p:spPr>
        <p:txBody>
          <a:bodyPr wrap="square" lIns="0" tIns="0" rIns="0" bIns="0" rtlCol="0" anchor="t">
            <a:normAutofit/>
          </a:bodyPr>
          <a:lstStyle/>
          <a:p>
            <a:pPr algn="l" indent="0" marL="0">
              <a:lnSpc>
                <a:spcPts val="1400"/>
              </a:lnSpc>
              <a:buNone/>
            </a:pPr>
            <a:r>
              <a:rPr lang="en-US" sz="1000" b="1" spc="50" kern="0" dirty="0">
                <a:solidFill>
                  <a:srgbClr val="F0A35C"/>
                </a:solidFill>
                <a:latin typeface="DM Sans" pitchFamily="34" charset="0"/>
                <a:ea typeface="DM Sans" pitchFamily="34" charset="-122"/>
                <a:cs typeface="DM Sans" pitchFamily="34" charset="-120"/>
              </a:rPr>
              <a:t>RESULTADO</a:t>
            </a:r>
            <a:endParaRPr lang="en-US" sz="1000" dirty="0"/>
          </a:p>
        </p:txBody>
      </p:sp>
      <p:sp>
        <p:nvSpPr>
          <p:cNvPr id="27" name="Text 25"/>
          <p:cNvSpPr/>
          <p:nvPr/>
        </p:nvSpPr>
        <p:spPr>
          <a:xfrm>
            <a:off x="9137650" y="1871980"/>
            <a:ext cx="2269554"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6F4EE"/>
                </a:solidFill>
                <a:latin typeface="DM Sans" pitchFamily="34" charset="0"/>
                <a:ea typeface="DM Sans" pitchFamily="34" charset="-122"/>
                <a:cs typeface="DM Sans" pitchFamily="34" charset="-120"/>
              </a:rPr>
              <a:t>Venta pendiente</a:t>
            </a:r>
            <a:endParaRPr lang="en-US" sz="1400" dirty="0"/>
          </a:p>
        </p:txBody>
      </p:sp>
      <p:sp>
        <p:nvSpPr>
          <p:cNvPr id="28" name="Text 26"/>
          <p:cNvSpPr/>
          <p:nvPr/>
        </p:nvSpPr>
        <p:spPr>
          <a:xfrm>
            <a:off x="9137650" y="2123441"/>
            <a:ext cx="2269554"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C7D0DC"/>
                </a:solidFill>
                <a:latin typeface="DM Sans" pitchFamily="34" charset="0"/>
                <a:ea typeface="DM Sans" pitchFamily="34" charset="-122"/>
                <a:cs typeface="DM Sans" pitchFamily="34" charset="-120"/>
              </a:rPr>
              <a:t>Sin descuento aún</a:t>
            </a:r>
            <a:endParaRPr lang="en-US" sz="1200" dirty="0"/>
          </a:p>
        </p:txBody>
      </p:sp>
      <p:sp>
        <p:nvSpPr>
          <p:cNvPr id="29" name="Text 27"/>
          <p:cNvSpPr/>
          <p:nvPr/>
        </p:nvSpPr>
        <p:spPr>
          <a:xfrm>
            <a:off x="711200" y="2708911"/>
            <a:ext cx="2222564"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01826"/>
                </a:solidFill>
                <a:latin typeface="DM Sans" pitchFamily="34" charset="0"/>
                <a:ea typeface="DM Sans" pitchFamily="34" charset="-122"/>
                <a:cs typeface="DM Sans" pitchFamily="34" charset="-120"/>
              </a:rPr>
              <a:t>2 · Al cierre del periodo</a:t>
            </a:r>
            <a:endParaRPr lang="en-US" sz="1300" dirty="0"/>
          </a:p>
        </p:txBody>
      </p:sp>
      <p:sp>
        <p:nvSpPr>
          <p:cNvPr id="30" name="Text 28"/>
          <p:cNvSpPr/>
          <p:nvPr/>
        </p:nvSpPr>
        <p:spPr>
          <a:xfrm>
            <a:off x="7833773" y="2734311"/>
            <a:ext cx="3647027" cy="220980"/>
          </a:xfrm>
          <a:prstGeom prst="rect">
            <a:avLst/>
          </a:prstGeom>
          <a:noFill/>
          <a:ln/>
        </p:spPr>
        <p:txBody>
          <a:bodyPr wrap="square" lIns="0" tIns="0" rIns="0" bIns="0" rtlCol="0" anchor="t">
            <a:normAutofit/>
          </a:bodyPr>
          <a:lstStyle/>
          <a:p>
            <a:pPr algn="r" indent="0" marL="0">
              <a:lnSpc>
                <a:spcPts val="1540"/>
              </a:lnSpc>
              <a:buNone/>
            </a:pPr>
            <a:r>
              <a:rPr lang="en-US" sz="1100" dirty="0">
                <a:solidFill>
                  <a:srgbClr val="3B4452"/>
                </a:solidFill>
                <a:latin typeface="DM Sans" pitchFamily="34" charset="0"/>
                <a:ea typeface="DM Sans" pitchFamily="34" charset="-122"/>
                <a:cs typeface="DM Sans" pitchFamily="34" charset="-120"/>
              </a:rPr>
              <a:t>FN_TOTAL_PENDIENTE: cuánto hay por liquidar</a:t>
            </a:r>
            <a:endParaRPr lang="en-US" sz="1100" dirty="0"/>
          </a:p>
        </p:txBody>
      </p:sp>
      <p:sp>
        <p:nvSpPr>
          <p:cNvPr id="31" name="Shape 29"/>
          <p:cNvSpPr/>
          <p:nvPr/>
        </p:nvSpPr>
        <p:spPr>
          <a:xfrm>
            <a:off x="711200" y="3016250"/>
            <a:ext cx="2482850" cy="896620"/>
          </a:xfrm>
          <a:prstGeom prst="roundRect">
            <a:avLst>
              <a:gd name="adj" fmla="val 8499"/>
            </a:avLst>
          </a:prstGeom>
          <a:solidFill>
            <a:srgbClr val="101826"/>
          </a:solidFill>
          <a:ln/>
        </p:spPr>
      </p:sp>
      <p:sp>
        <p:nvSpPr>
          <p:cNvPr id="32" name="Shape 30"/>
          <p:cNvSpPr/>
          <p:nvPr/>
        </p:nvSpPr>
        <p:spPr>
          <a:xfrm>
            <a:off x="711200" y="3016250"/>
            <a:ext cx="2482850" cy="896620"/>
          </a:xfrm>
          <a:custGeom>
            <a:avLst/>
            <a:gdLst/>
            <a:ahLst/>
            <a:cxnLst/>
            <a:rect l="l" t="t" r="r" b="b"/>
            <a:pathLst>
              <a:path w="2482850" h="896620">
                <a:moveTo>
                  <a:pt x="0" y="76200"/>
                </a:moveTo>
                <a:lnTo>
                  <a:pt x="0" y="76200"/>
                </a:lnTo>
                <a:arcTo hR="76200" wR="76200" stAng="10800000" swAng="5400000"/>
                <a:lnTo>
                  <a:pt x="2406650" y="0"/>
                </a:lnTo>
                <a:arcTo hR="76200" wR="76200" stAng="16200000" swAng="5400000"/>
                <a:lnTo>
                  <a:pt x="2482850" y="76200"/>
                </a:lnTo>
                <a:arcTo hR="38100" wR="76200" stAng="0" swAng="-5400000"/>
                <a:lnTo>
                  <a:pt x="76200" y="38100"/>
                </a:lnTo>
                <a:arcTo hR="38100" wR="76200" stAng="16200000" swAng="-5400000"/>
                <a:close/>
              </a:path>
            </a:pathLst>
          </a:custGeom>
          <a:solidFill>
            <a:srgbClr val="E8913A"/>
          </a:solidFill>
          <a:ln/>
        </p:spPr>
      </p:sp>
      <p:sp>
        <p:nvSpPr>
          <p:cNvPr id="33" name="Text 31"/>
          <p:cNvSpPr/>
          <p:nvPr/>
        </p:nvSpPr>
        <p:spPr>
          <a:xfrm>
            <a:off x="850900" y="3153411"/>
            <a:ext cx="2269554" cy="203200"/>
          </a:xfrm>
          <a:prstGeom prst="rect">
            <a:avLst/>
          </a:prstGeom>
          <a:noFill/>
          <a:ln/>
        </p:spPr>
        <p:txBody>
          <a:bodyPr wrap="square" lIns="0" tIns="0" rIns="0" bIns="0" rtlCol="0" anchor="t">
            <a:normAutofit/>
          </a:bodyPr>
          <a:lstStyle/>
          <a:p>
            <a:pPr algn="l" indent="0" marL="0">
              <a:lnSpc>
                <a:spcPts val="1400"/>
              </a:lnSpc>
              <a:buNone/>
            </a:pPr>
            <a:r>
              <a:rPr lang="en-US" sz="1000" b="1" spc="50" kern="0" dirty="0">
                <a:solidFill>
                  <a:srgbClr val="F0A35C"/>
                </a:solidFill>
                <a:latin typeface="DM Sans" pitchFamily="34" charset="0"/>
                <a:ea typeface="DM Sans" pitchFamily="34" charset="-122"/>
                <a:cs typeface="DM Sans" pitchFamily="34" charset="-120"/>
              </a:rPr>
              <a:t>REGLA DE NEGOCIO</a:t>
            </a:r>
            <a:endParaRPr lang="en-US" sz="1000" dirty="0"/>
          </a:p>
        </p:txBody>
      </p:sp>
      <p:sp>
        <p:nvSpPr>
          <p:cNvPr id="34" name="Text 32"/>
          <p:cNvSpPr/>
          <p:nvPr/>
        </p:nvSpPr>
        <p:spPr>
          <a:xfrm>
            <a:off x="850900" y="3369311"/>
            <a:ext cx="2269554"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6F4EE"/>
                </a:solidFill>
                <a:latin typeface="DM Sans" pitchFamily="34" charset="0"/>
                <a:ea typeface="DM Sans" pitchFamily="34" charset="-122"/>
                <a:cs typeface="DM Sans" pitchFamily="34" charset="-120"/>
              </a:rPr>
              <a:t>Cierre del periodo</a:t>
            </a:r>
            <a:endParaRPr lang="en-US" sz="1400" dirty="0"/>
          </a:p>
        </p:txBody>
      </p:sp>
      <p:sp>
        <p:nvSpPr>
          <p:cNvPr id="35" name="Text 33"/>
          <p:cNvSpPr/>
          <p:nvPr/>
        </p:nvSpPr>
        <p:spPr>
          <a:xfrm>
            <a:off x="850900" y="3620770"/>
            <a:ext cx="2269554"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C7D0DC"/>
                </a:solidFill>
                <a:latin typeface="DM Sans" pitchFamily="34" charset="0"/>
                <a:ea typeface="DM Sans" pitchFamily="34" charset="-122"/>
                <a:cs typeface="DM Sans" pitchFamily="34" charset="-120"/>
              </a:rPr>
              <a:t>Liquidar a los clientes</a:t>
            </a:r>
            <a:endParaRPr lang="en-US" sz="1200" dirty="0"/>
          </a:p>
        </p:txBody>
      </p:sp>
      <p:sp>
        <p:nvSpPr>
          <p:cNvPr id="36" name="Text 34"/>
          <p:cNvSpPr/>
          <p:nvPr/>
        </p:nvSpPr>
        <p:spPr>
          <a:xfrm>
            <a:off x="3194050" y="3304541"/>
            <a:ext cx="279400" cy="345440"/>
          </a:xfrm>
          <a:prstGeom prst="rect">
            <a:avLst/>
          </a:prstGeom>
          <a:noFill/>
          <a:ln/>
        </p:spPr>
        <p:txBody>
          <a:bodyPr wrap="square" lIns="0" tIns="0" rIns="0" bIns="0" rtlCol="0" anchor="t">
            <a:normAutofit/>
          </a:bodyPr>
          <a:lstStyle/>
          <a:p>
            <a:pPr algn="ctr" indent="0" marL="0">
              <a:lnSpc>
                <a:spcPts val="2520"/>
              </a:lnSpc>
              <a:buNone/>
            </a:pPr>
            <a:r>
              <a:rPr lang="en-US" sz="1800" b="1" dirty="0">
                <a:solidFill>
                  <a:srgbClr val="E8913A"/>
                </a:solidFill>
                <a:latin typeface="DM Sans" pitchFamily="34" charset="0"/>
                <a:ea typeface="DM Sans" pitchFamily="34" charset="-122"/>
                <a:cs typeface="DM Sans" pitchFamily="34" charset="-120"/>
              </a:rPr>
              <a:t>→</a:t>
            </a:r>
            <a:endParaRPr lang="en-US" sz="1800" dirty="0"/>
          </a:p>
        </p:txBody>
      </p:sp>
      <p:sp>
        <p:nvSpPr>
          <p:cNvPr id="37" name="Shape 35"/>
          <p:cNvSpPr/>
          <p:nvPr/>
        </p:nvSpPr>
        <p:spPr>
          <a:xfrm>
            <a:off x="3473450" y="3016250"/>
            <a:ext cx="2482850" cy="896620"/>
          </a:xfrm>
          <a:prstGeom prst="roundRect">
            <a:avLst>
              <a:gd name="adj" fmla="val 8499"/>
            </a:avLst>
          </a:prstGeom>
          <a:solidFill>
            <a:srgbClr val="FFFFFF"/>
          </a:solidFill>
          <a:ln/>
        </p:spPr>
      </p:sp>
      <p:sp>
        <p:nvSpPr>
          <p:cNvPr id="38" name="Shape 36"/>
          <p:cNvSpPr/>
          <p:nvPr/>
        </p:nvSpPr>
        <p:spPr>
          <a:xfrm>
            <a:off x="3473450" y="3016250"/>
            <a:ext cx="2482850" cy="896620"/>
          </a:xfrm>
          <a:custGeom>
            <a:avLst/>
            <a:gdLst/>
            <a:ahLst/>
            <a:cxnLst/>
            <a:rect l="l" t="t" r="r" b="b"/>
            <a:pathLst>
              <a:path w="2482850" h="896620">
                <a:moveTo>
                  <a:pt x="0" y="76200"/>
                </a:moveTo>
                <a:lnTo>
                  <a:pt x="0" y="76200"/>
                </a:lnTo>
                <a:arcTo hR="76200" wR="76200" stAng="10800000" swAng="5400000"/>
                <a:lnTo>
                  <a:pt x="2406650" y="0"/>
                </a:lnTo>
                <a:arcTo hR="76200" wR="76200" stAng="16200000" swAng="5400000"/>
                <a:lnTo>
                  <a:pt x="2482850" y="76200"/>
                </a:lnTo>
                <a:arcTo hR="38100" wR="76200" stAng="0" swAng="-5400000"/>
                <a:lnTo>
                  <a:pt x="76200" y="38100"/>
                </a:lnTo>
                <a:arcTo hR="38100" wR="76200" stAng="16200000" swAng="-5400000"/>
                <a:close/>
              </a:path>
            </a:pathLst>
          </a:custGeom>
          <a:solidFill>
            <a:srgbClr val="E8913A"/>
          </a:solidFill>
          <a:ln/>
        </p:spPr>
      </p:sp>
      <p:sp>
        <p:nvSpPr>
          <p:cNvPr id="39" name="Text 37"/>
          <p:cNvSpPr/>
          <p:nvPr/>
        </p:nvSpPr>
        <p:spPr>
          <a:xfrm>
            <a:off x="3613150" y="3153411"/>
            <a:ext cx="2269554" cy="203200"/>
          </a:xfrm>
          <a:prstGeom prst="rect">
            <a:avLst/>
          </a:prstGeom>
          <a:noFill/>
          <a:ln/>
        </p:spPr>
        <p:txBody>
          <a:bodyPr wrap="square" lIns="0" tIns="0" rIns="0" bIns="0" rtlCol="0" anchor="t">
            <a:normAutofit/>
          </a:bodyPr>
          <a:lstStyle/>
          <a:p>
            <a:pPr algn="l" indent="0" marL="0">
              <a:lnSpc>
                <a:spcPts val="1400"/>
              </a:lnSpc>
              <a:buNone/>
            </a:pPr>
            <a:r>
              <a:rPr lang="en-US" sz="1000" b="1" spc="50" kern="0" dirty="0">
                <a:solidFill>
                  <a:srgbClr val="A4540B"/>
                </a:solidFill>
                <a:latin typeface="DM Sans" pitchFamily="34" charset="0"/>
                <a:ea typeface="DM Sans" pitchFamily="34" charset="-122"/>
                <a:cs typeface="DM Sans" pitchFamily="34" charset="-120"/>
              </a:rPr>
              <a:t>PROCEDIMIENTO</a:t>
            </a:r>
            <a:endParaRPr lang="en-US" sz="1000" dirty="0"/>
          </a:p>
        </p:txBody>
      </p:sp>
      <p:sp>
        <p:nvSpPr>
          <p:cNvPr id="40" name="Text 38"/>
          <p:cNvSpPr/>
          <p:nvPr/>
        </p:nvSpPr>
        <p:spPr>
          <a:xfrm>
            <a:off x="3613150" y="3369311"/>
            <a:ext cx="2269554" cy="200660"/>
          </a:xfrm>
          <a:prstGeom prst="rect">
            <a:avLst/>
          </a:prstGeom>
          <a:noFill/>
          <a:ln/>
        </p:spPr>
        <p:txBody>
          <a:bodyPr wrap="square" lIns="0" tIns="0" rIns="0" bIns="0" rtlCol="0" anchor="t">
            <a:normAutofit/>
          </a:bodyPr>
          <a:lstStyle/>
          <a:p>
            <a:pPr algn="l" indent="0" marL="0">
              <a:lnSpc>
                <a:spcPts val="1380"/>
              </a:lnSpc>
              <a:buNone/>
            </a:pPr>
            <a:r>
              <a:rPr lang="en-US" sz="1150" b="1" dirty="0">
                <a:solidFill>
                  <a:srgbClr val="101826"/>
                </a:solidFill>
                <a:latin typeface="JetBrains Mono" pitchFamily="49" charset="0"/>
                <a:ea typeface="JetBrains Mono" pitchFamily="49" charset="-122"/>
                <a:cs typeface="JetBrains Mono" pitchFamily="49" charset="-120"/>
              </a:rPr>
              <a:t>SP_LIQUIDAR_CLIENTES</a:t>
            </a:r>
            <a:endParaRPr lang="en-US" sz="1150" dirty="0"/>
          </a:p>
        </p:txBody>
      </p:sp>
      <p:sp>
        <p:nvSpPr>
          <p:cNvPr id="41" name="Text 39"/>
          <p:cNvSpPr/>
          <p:nvPr/>
        </p:nvSpPr>
        <p:spPr>
          <a:xfrm>
            <a:off x="3613150" y="3582670"/>
            <a:ext cx="2269554"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3B4452"/>
                </a:solidFill>
                <a:latin typeface="DM Sans" pitchFamily="34" charset="0"/>
                <a:ea typeface="DM Sans" pitchFamily="34" charset="-122"/>
                <a:cs typeface="DM Sans" pitchFamily="34" charset="-120"/>
              </a:rPr>
              <a:t>Junta ventas pendientes</a:t>
            </a:r>
            <a:endParaRPr lang="en-US" sz="1200" dirty="0"/>
          </a:p>
        </p:txBody>
      </p:sp>
      <p:sp>
        <p:nvSpPr>
          <p:cNvPr id="42" name="Text 40"/>
          <p:cNvSpPr/>
          <p:nvPr/>
        </p:nvSpPr>
        <p:spPr>
          <a:xfrm>
            <a:off x="5956300" y="3304541"/>
            <a:ext cx="279400" cy="345440"/>
          </a:xfrm>
          <a:prstGeom prst="rect">
            <a:avLst/>
          </a:prstGeom>
          <a:noFill/>
          <a:ln/>
        </p:spPr>
        <p:txBody>
          <a:bodyPr wrap="square" lIns="0" tIns="0" rIns="0" bIns="0" rtlCol="0" anchor="t">
            <a:normAutofit/>
          </a:bodyPr>
          <a:lstStyle/>
          <a:p>
            <a:pPr algn="ctr" indent="0" marL="0">
              <a:lnSpc>
                <a:spcPts val="2520"/>
              </a:lnSpc>
              <a:buNone/>
            </a:pPr>
            <a:r>
              <a:rPr lang="en-US" sz="1800" b="1" dirty="0">
                <a:solidFill>
                  <a:srgbClr val="E8913A"/>
                </a:solidFill>
                <a:latin typeface="DM Sans" pitchFamily="34" charset="0"/>
                <a:ea typeface="DM Sans" pitchFamily="34" charset="-122"/>
                <a:cs typeface="DM Sans" pitchFamily="34" charset="-120"/>
              </a:rPr>
              <a:t>→</a:t>
            </a:r>
            <a:endParaRPr lang="en-US" sz="1800" dirty="0"/>
          </a:p>
        </p:txBody>
      </p:sp>
      <p:sp>
        <p:nvSpPr>
          <p:cNvPr id="43" name="Shape 41"/>
          <p:cNvSpPr/>
          <p:nvPr/>
        </p:nvSpPr>
        <p:spPr>
          <a:xfrm>
            <a:off x="6235700" y="3016250"/>
            <a:ext cx="2482850" cy="896620"/>
          </a:xfrm>
          <a:prstGeom prst="roundRect">
            <a:avLst>
              <a:gd name="adj" fmla="val 8499"/>
            </a:avLst>
          </a:prstGeom>
          <a:solidFill>
            <a:srgbClr val="FFFFFF"/>
          </a:solidFill>
          <a:ln/>
        </p:spPr>
      </p:sp>
      <p:sp>
        <p:nvSpPr>
          <p:cNvPr id="44" name="Shape 42"/>
          <p:cNvSpPr/>
          <p:nvPr/>
        </p:nvSpPr>
        <p:spPr>
          <a:xfrm>
            <a:off x="6235700" y="3016250"/>
            <a:ext cx="2482850" cy="896620"/>
          </a:xfrm>
          <a:custGeom>
            <a:avLst/>
            <a:gdLst/>
            <a:ahLst/>
            <a:cxnLst/>
            <a:rect l="l" t="t" r="r" b="b"/>
            <a:pathLst>
              <a:path w="2482850" h="896620">
                <a:moveTo>
                  <a:pt x="0" y="76200"/>
                </a:moveTo>
                <a:lnTo>
                  <a:pt x="0" y="76200"/>
                </a:lnTo>
                <a:arcTo hR="76200" wR="76200" stAng="10800000" swAng="5400000"/>
                <a:lnTo>
                  <a:pt x="2406650" y="0"/>
                </a:lnTo>
                <a:arcTo hR="76200" wR="76200" stAng="16200000" swAng="5400000"/>
                <a:lnTo>
                  <a:pt x="2482850" y="76200"/>
                </a:lnTo>
                <a:arcTo hR="38100" wR="76200" stAng="0" swAng="-5400000"/>
                <a:lnTo>
                  <a:pt x="76200" y="38100"/>
                </a:lnTo>
                <a:arcTo hR="38100" wR="76200" stAng="16200000" swAng="-5400000"/>
                <a:close/>
              </a:path>
            </a:pathLst>
          </a:custGeom>
          <a:solidFill>
            <a:srgbClr val="2B8CBE"/>
          </a:solidFill>
          <a:ln/>
        </p:spPr>
      </p:sp>
      <p:sp>
        <p:nvSpPr>
          <p:cNvPr id="45" name="Text 43"/>
          <p:cNvSpPr/>
          <p:nvPr/>
        </p:nvSpPr>
        <p:spPr>
          <a:xfrm>
            <a:off x="6375400" y="3153411"/>
            <a:ext cx="2269554" cy="203200"/>
          </a:xfrm>
          <a:prstGeom prst="rect">
            <a:avLst/>
          </a:prstGeom>
          <a:noFill/>
          <a:ln/>
        </p:spPr>
        <p:txBody>
          <a:bodyPr wrap="square" lIns="0" tIns="0" rIns="0" bIns="0" rtlCol="0" anchor="t">
            <a:normAutofit/>
          </a:bodyPr>
          <a:lstStyle/>
          <a:p>
            <a:pPr algn="l" indent="0" marL="0">
              <a:lnSpc>
                <a:spcPts val="1400"/>
              </a:lnSpc>
              <a:buNone/>
            </a:pPr>
            <a:r>
              <a:rPr lang="en-US" sz="1000" b="1" spc="50" kern="0" dirty="0">
                <a:solidFill>
                  <a:srgbClr val="2B6E8C"/>
                </a:solidFill>
                <a:latin typeface="DM Sans" pitchFamily="34" charset="0"/>
                <a:ea typeface="DM Sans" pitchFamily="34" charset="-122"/>
                <a:cs typeface="DM Sans" pitchFamily="34" charset="-120"/>
              </a:rPr>
              <a:t>FUNCIÓN</a:t>
            </a:r>
            <a:endParaRPr lang="en-US" sz="1000" dirty="0"/>
          </a:p>
        </p:txBody>
      </p:sp>
      <p:sp>
        <p:nvSpPr>
          <p:cNvPr id="46" name="Text 44"/>
          <p:cNvSpPr/>
          <p:nvPr/>
        </p:nvSpPr>
        <p:spPr>
          <a:xfrm>
            <a:off x="6375400" y="3369311"/>
            <a:ext cx="2269554" cy="200660"/>
          </a:xfrm>
          <a:prstGeom prst="rect">
            <a:avLst/>
          </a:prstGeom>
          <a:noFill/>
          <a:ln/>
        </p:spPr>
        <p:txBody>
          <a:bodyPr wrap="square" lIns="0" tIns="0" rIns="0" bIns="0" rtlCol="0" anchor="t">
            <a:normAutofit/>
          </a:bodyPr>
          <a:lstStyle/>
          <a:p>
            <a:pPr algn="l" indent="0" marL="0">
              <a:lnSpc>
                <a:spcPts val="1380"/>
              </a:lnSpc>
              <a:buNone/>
            </a:pPr>
            <a:r>
              <a:rPr lang="en-US" sz="1150" b="1" dirty="0">
                <a:solidFill>
                  <a:srgbClr val="101826"/>
                </a:solidFill>
                <a:latin typeface="JetBrains Mono" pitchFamily="49" charset="0"/>
                <a:ea typeface="JetBrains Mono" pitchFamily="49" charset="-122"/>
                <a:cs typeface="JetBrains Mono" pitchFamily="49" charset="-120"/>
              </a:rPr>
              <a:t>FN_CALCULAR_DESCUENTO</a:t>
            </a:r>
            <a:endParaRPr lang="en-US" sz="1150" dirty="0"/>
          </a:p>
        </p:txBody>
      </p:sp>
      <p:sp>
        <p:nvSpPr>
          <p:cNvPr id="47" name="Text 45"/>
          <p:cNvSpPr/>
          <p:nvPr/>
        </p:nvSpPr>
        <p:spPr>
          <a:xfrm>
            <a:off x="6375400" y="3582670"/>
            <a:ext cx="2269554"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3B4452"/>
                </a:solidFill>
                <a:latin typeface="DM Sans" pitchFamily="34" charset="0"/>
                <a:ea typeface="DM Sans" pitchFamily="34" charset="-122"/>
                <a:cs typeface="DM Sans" pitchFamily="34" charset="-120"/>
              </a:rPr>
              <a:t>Calcula la tasa</a:t>
            </a:r>
            <a:endParaRPr lang="en-US" sz="1200" dirty="0"/>
          </a:p>
        </p:txBody>
      </p:sp>
      <p:sp>
        <p:nvSpPr>
          <p:cNvPr id="48" name="Text 46"/>
          <p:cNvSpPr/>
          <p:nvPr/>
        </p:nvSpPr>
        <p:spPr>
          <a:xfrm>
            <a:off x="8718550" y="3304541"/>
            <a:ext cx="279400" cy="345440"/>
          </a:xfrm>
          <a:prstGeom prst="rect">
            <a:avLst/>
          </a:prstGeom>
          <a:noFill/>
          <a:ln/>
        </p:spPr>
        <p:txBody>
          <a:bodyPr wrap="square" lIns="0" tIns="0" rIns="0" bIns="0" rtlCol="0" anchor="t">
            <a:normAutofit/>
          </a:bodyPr>
          <a:lstStyle/>
          <a:p>
            <a:pPr algn="ctr" indent="0" marL="0">
              <a:lnSpc>
                <a:spcPts val="2520"/>
              </a:lnSpc>
              <a:buNone/>
            </a:pPr>
            <a:r>
              <a:rPr lang="en-US" sz="1800" b="1" dirty="0">
                <a:solidFill>
                  <a:srgbClr val="E8913A"/>
                </a:solidFill>
                <a:latin typeface="DM Sans" pitchFamily="34" charset="0"/>
                <a:ea typeface="DM Sans" pitchFamily="34" charset="-122"/>
                <a:cs typeface="DM Sans" pitchFamily="34" charset="-120"/>
              </a:rPr>
              <a:t>→</a:t>
            </a:r>
            <a:endParaRPr lang="en-US" sz="1800" dirty="0"/>
          </a:p>
        </p:txBody>
      </p:sp>
      <p:sp>
        <p:nvSpPr>
          <p:cNvPr id="49" name="Shape 47"/>
          <p:cNvSpPr/>
          <p:nvPr/>
        </p:nvSpPr>
        <p:spPr>
          <a:xfrm>
            <a:off x="8997950" y="3016250"/>
            <a:ext cx="2482850" cy="896620"/>
          </a:xfrm>
          <a:prstGeom prst="roundRect">
            <a:avLst>
              <a:gd name="adj" fmla="val 8499"/>
            </a:avLst>
          </a:prstGeom>
          <a:solidFill>
            <a:srgbClr val="101826"/>
          </a:solidFill>
          <a:ln/>
        </p:spPr>
      </p:sp>
      <p:sp>
        <p:nvSpPr>
          <p:cNvPr id="50" name="Shape 48"/>
          <p:cNvSpPr/>
          <p:nvPr/>
        </p:nvSpPr>
        <p:spPr>
          <a:xfrm>
            <a:off x="8997950" y="3016250"/>
            <a:ext cx="2482850" cy="896620"/>
          </a:xfrm>
          <a:custGeom>
            <a:avLst/>
            <a:gdLst/>
            <a:ahLst/>
            <a:cxnLst/>
            <a:rect l="l" t="t" r="r" b="b"/>
            <a:pathLst>
              <a:path w="2482850" h="896620">
                <a:moveTo>
                  <a:pt x="0" y="76200"/>
                </a:moveTo>
                <a:lnTo>
                  <a:pt x="0" y="76200"/>
                </a:lnTo>
                <a:arcTo hR="76200" wR="76200" stAng="10800000" swAng="5400000"/>
                <a:lnTo>
                  <a:pt x="2406650" y="0"/>
                </a:lnTo>
                <a:arcTo hR="76200" wR="76200" stAng="16200000" swAng="5400000"/>
                <a:lnTo>
                  <a:pt x="2482850" y="76200"/>
                </a:lnTo>
                <a:arcTo hR="38100" wR="76200" stAng="0" swAng="-5400000"/>
                <a:lnTo>
                  <a:pt x="76200" y="38100"/>
                </a:lnTo>
                <a:arcTo hR="38100" wR="76200" stAng="16200000" swAng="-5400000"/>
                <a:close/>
              </a:path>
            </a:pathLst>
          </a:custGeom>
          <a:solidFill>
            <a:srgbClr val="E8913A"/>
          </a:solidFill>
          <a:ln/>
        </p:spPr>
      </p:sp>
      <p:sp>
        <p:nvSpPr>
          <p:cNvPr id="51" name="Text 49"/>
          <p:cNvSpPr/>
          <p:nvPr/>
        </p:nvSpPr>
        <p:spPr>
          <a:xfrm>
            <a:off x="9137650" y="3153411"/>
            <a:ext cx="2269554" cy="203200"/>
          </a:xfrm>
          <a:prstGeom prst="rect">
            <a:avLst/>
          </a:prstGeom>
          <a:noFill/>
          <a:ln/>
        </p:spPr>
        <p:txBody>
          <a:bodyPr wrap="square" lIns="0" tIns="0" rIns="0" bIns="0" rtlCol="0" anchor="t">
            <a:normAutofit/>
          </a:bodyPr>
          <a:lstStyle/>
          <a:p>
            <a:pPr algn="l" indent="0" marL="0">
              <a:lnSpc>
                <a:spcPts val="1400"/>
              </a:lnSpc>
              <a:buNone/>
            </a:pPr>
            <a:r>
              <a:rPr lang="en-US" sz="1000" b="1" spc="50" kern="0" dirty="0">
                <a:solidFill>
                  <a:srgbClr val="F0A35C"/>
                </a:solidFill>
                <a:latin typeface="DM Sans" pitchFamily="34" charset="0"/>
                <a:ea typeface="DM Sans" pitchFamily="34" charset="-122"/>
                <a:cs typeface="DM Sans" pitchFamily="34" charset="-120"/>
              </a:rPr>
              <a:t>RESULTADO</a:t>
            </a:r>
            <a:endParaRPr lang="en-US" sz="1000" dirty="0"/>
          </a:p>
        </p:txBody>
      </p:sp>
      <p:sp>
        <p:nvSpPr>
          <p:cNvPr id="52" name="Text 50"/>
          <p:cNvSpPr/>
          <p:nvPr/>
        </p:nvSpPr>
        <p:spPr>
          <a:xfrm>
            <a:off x="9137650" y="3369311"/>
            <a:ext cx="2269554" cy="200660"/>
          </a:xfrm>
          <a:prstGeom prst="rect">
            <a:avLst/>
          </a:prstGeom>
          <a:noFill/>
          <a:ln/>
        </p:spPr>
        <p:txBody>
          <a:bodyPr wrap="square" lIns="0" tIns="0" rIns="0" bIns="0" rtlCol="0" anchor="t">
            <a:normAutofit/>
          </a:bodyPr>
          <a:lstStyle/>
          <a:p>
            <a:pPr algn="l" indent="0" marL="0">
              <a:lnSpc>
                <a:spcPts val="1380"/>
              </a:lnSpc>
              <a:buNone/>
            </a:pPr>
            <a:r>
              <a:rPr lang="en-US" sz="1150" b="1" dirty="0">
                <a:solidFill>
                  <a:srgbClr val="F6F4EE"/>
                </a:solidFill>
                <a:latin typeface="JetBrains Mono" pitchFamily="49" charset="0"/>
                <a:ea typeface="JetBrains Mono" pitchFamily="49" charset="-122"/>
                <a:cs typeface="JetBrains Mono" pitchFamily="49" charset="-120"/>
              </a:rPr>
              <a:t>LIQUIDACION_CLIENTE</a:t>
            </a:r>
            <a:endParaRPr lang="en-US" sz="1150" dirty="0"/>
          </a:p>
        </p:txBody>
      </p:sp>
      <p:sp>
        <p:nvSpPr>
          <p:cNvPr id="53" name="Text 51"/>
          <p:cNvSpPr/>
          <p:nvPr/>
        </p:nvSpPr>
        <p:spPr>
          <a:xfrm>
            <a:off x="9137650" y="3582670"/>
            <a:ext cx="2269554"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C7D0DC"/>
                </a:solidFill>
                <a:latin typeface="DM Sans" pitchFamily="34" charset="0"/>
                <a:ea typeface="DM Sans" pitchFamily="34" charset="-122"/>
                <a:cs typeface="DM Sans" pitchFamily="34" charset="-120"/>
              </a:rPr>
              <a:t>Descuento y total a pagar</a:t>
            </a:r>
            <a:endParaRPr lang="en-US" sz="1200" dirty="0"/>
          </a:p>
        </p:txBody>
      </p:sp>
      <p:sp>
        <p:nvSpPr>
          <p:cNvPr id="54" name="Text 52"/>
          <p:cNvSpPr/>
          <p:nvPr/>
        </p:nvSpPr>
        <p:spPr>
          <a:xfrm>
            <a:off x="711200" y="4039870"/>
            <a:ext cx="4292156"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01826"/>
                </a:solidFill>
                <a:latin typeface="DM Sans" pitchFamily="34" charset="0"/>
                <a:ea typeface="DM Sans" pitchFamily="34" charset="-122"/>
                <a:cs typeface="DM Sans" pitchFamily="34" charset="-120"/>
              </a:rPr>
              <a:t>3 · Inventario y clientes · PKG_SONIDO_VIVO</a:t>
            </a:r>
            <a:endParaRPr lang="en-US" sz="1300" dirty="0"/>
          </a:p>
        </p:txBody>
      </p:sp>
      <p:sp>
        <p:nvSpPr>
          <p:cNvPr id="55" name="Text 53"/>
          <p:cNvSpPr/>
          <p:nvPr/>
        </p:nvSpPr>
        <p:spPr>
          <a:xfrm>
            <a:off x="8480044" y="4065270"/>
            <a:ext cx="3000756" cy="220980"/>
          </a:xfrm>
          <a:prstGeom prst="rect">
            <a:avLst/>
          </a:prstGeom>
          <a:noFill/>
          <a:ln/>
        </p:spPr>
        <p:txBody>
          <a:bodyPr wrap="square" lIns="0" tIns="0" rIns="0" bIns="0" rtlCol="0" anchor="t">
            <a:normAutofit/>
          </a:bodyPr>
          <a:lstStyle/>
          <a:p>
            <a:pPr algn="r" indent="0" marL="0">
              <a:lnSpc>
                <a:spcPts val="1540"/>
              </a:lnSpc>
              <a:buNone/>
            </a:pPr>
            <a:r>
              <a:rPr lang="en-US" sz="1100" dirty="0">
                <a:solidFill>
                  <a:srgbClr val="3B4452"/>
                </a:solidFill>
                <a:latin typeface="DM Sans" pitchFamily="34" charset="0"/>
                <a:ea typeface="DM Sans" pitchFamily="34" charset="-122"/>
                <a:cs typeface="DM Sans" pitchFamily="34" charset="-120"/>
              </a:rPr>
              <a:t>Consulta de stock: fn_stock_producto</a:t>
            </a:r>
            <a:endParaRPr lang="en-US" sz="1100" dirty="0"/>
          </a:p>
        </p:txBody>
      </p:sp>
      <p:sp>
        <p:nvSpPr>
          <p:cNvPr id="56" name="Shape 54"/>
          <p:cNvSpPr/>
          <p:nvPr/>
        </p:nvSpPr>
        <p:spPr>
          <a:xfrm>
            <a:off x="711200" y="4347211"/>
            <a:ext cx="2482850" cy="858520"/>
          </a:xfrm>
          <a:prstGeom prst="roundRect">
            <a:avLst>
              <a:gd name="adj" fmla="val 8876"/>
            </a:avLst>
          </a:prstGeom>
          <a:solidFill>
            <a:srgbClr val="FFFFFF"/>
          </a:solidFill>
          <a:ln/>
        </p:spPr>
      </p:sp>
      <p:sp>
        <p:nvSpPr>
          <p:cNvPr id="57" name="Shape 55"/>
          <p:cNvSpPr/>
          <p:nvPr/>
        </p:nvSpPr>
        <p:spPr>
          <a:xfrm>
            <a:off x="711200" y="4347211"/>
            <a:ext cx="2482850" cy="858520"/>
          </a:xfrm>
          <a:custGeom>
            <a:avLst/>
            <a:gdLst/>
            <a:ahLst/>
            <a:cxnLst/>
            <a:rect l="l" t="t" r="r" b="b"/>
            <a:pathLst>
              <a:path w="2482850" h="858520">
                <a:moveTo>
                  <a:pt x="0" y="76200"/>
                </a:moveTo>
                <a:lnTo>
                  <a:pt x="0" y="76200"/>
                </a:lnTo>
                <a:arcTo hR="76200" wR="76200" stAng="10800000" swAng="5400000"/>
                <a:lnTo>
                  <a:pt x="2406650" y="0"/>
                </a:lnTo>
                <a:arcTo hR="76200" wR="76200" stAng="16200000" swAng="5400000"/>
                <a:lnTo>
                  <a:pt x="2482850" y="76200"/>
                </a:lnTo>
                <a:arcTo hR="38100" wR="76200" stAng="0" swAng="-5400000"/>
                <a:lnTo>
                  <a:pt x="76200" y="38100"/>
                </a:lnTo>
                <a:arcTo hR="38100" wR="76200" stAng="16200000" swAng="-5400000"/>
                <a:close/>
              </a:path>
            </a:pathLst>
          </a:custGeom>
          <a:solidFill>
            <a:srgbClr val="3FA35C"/>
          </a:solidFill>
          <a:ln/>
        </p:spPr>
      </p:sp>
      <p:sp>
        <p:nvSpPr>
          <p:cNvPr id="58" name="Text 56"/>
          <p:cNvSpPr/>
          <p:nvPr/>
        </p:nvSpPr>
        <p:spPr>
          <a:xfrm>
            <a:off x="850900" y="4484370"/>
            <a:ext cx="2269554" cy="203200"/>
          </a:xfrm>
          <a:prstGeom prst="rect">
            <a:avLst/>
          </a:prstGeom>
          <a:noFill/>
          <a:ln/>
        </p:spPr>
        <p:txBody>
          <a:bodyPr wrap="square" lIns="0" tIns="0" rIns="0" bIns="0" rtlCol="0" anchor="t">
            <a:normAutofit/>
          </a:bodyPr>
          <a:lstStyle/>
          <a:p>
            <a:pPr algn="l" indent="0" marL="0">
              <a:lnSpc>
                <a:spcPts val="1400"/>
              </a:lnSpc>
              <a:buNone/>
            </a:pPr>
            <a:r>
              <a:rPr lang="en-US" sz="1000" b="1" spc="50" kern="0" dirty="0">
                <a:solidFill>
                  <a:srgbClr val="2F7D45"/>
                </a:solidFill>
                <a:latin typeface="DM Sans" pitchFamily="34" charset="0"/>
                <a:ea typeface="DM Sans" pitchFamily="34" charset="-122"/>
                <a:cs typeface="DM Sans" pitchFamily="34" charset="-120"/>
              </a:rPr>
              <a:t>PACKAGE</a:t>
            </a:r>
            <a:endParaRPr lang="en-US" sz="1000" dirty="0"/>
          </a:p>
        </p:txBody>
      </p:sp>
      <p:sp>
        <p:nvSpPr>
          <p:cNvPr id="59" name="Text 57"/>
          <p:cNvSpPr/>
          <p:nvPr/>
        </p:nvSpPr>
        <p:spPr>
          <a:xfrm>
            <a:off x="850900" y="4700270"/>
            <a:ext cx="2269554" cy="200660"/>
          </a:xfrm>
          <a:prstGeom prst="rect">
            <a:avLst/>
          </a:prstGeom>
          <a:noFill/>
          <a:ln/>
        </p:spPr>
        <p:txBody>
          <a:bodyPr wrap="square" lIns="0" tIns="0" rIns="0" bIns="0" rtlCol="0" anchor="t">
            <a:normAutofit/>
          </a:bodyPr>
          <a:lstStyle/>
          <a:p>
            <a:pPr algn="l" indent="0" marL="0">
              <a:lnSpc>
                <a:spcPts val="1380"/>
              </a:lnSpc>
              <a:buNone/>
            </a:pPr>
            <a:r>
              <a:rPr lang="en-US" sz="1150" b="1" dirty="0">
                <a:solidFill>
                  <a:srgbClr val="101826"/>
                </a:solidFill>
                <a:latin typeface="JetBrains Mono" pitchFamily="49" charset="0"/>
                <a:ea typeface="JetBrains Mono" pitchFamily="49" charset="-122"/>
                <a:cs typeface="JetBrains Mono" pitchFamily="49" charset="-120"/>
              </a:rPr>
              <a:t>sp_mostrar_criticos</a:t>
            </a:r>
            <a:endParaRPr lang="en-US" sz="1150" dirty="0"/>
          </a:p>
        </p:txBody>
      </p:sp>
      <p:sp>
        <p:nvSpPr>
          <p:cNvPr id="60" name="Text 58"/>
          <p:cNvSpPr/>
          <p:nvPr/>
        </p:nvSpPr>
        <p:spPr>
          <a:xfrm>
            <a:off x="850900" y="4913630"/>
            <a:ext cx="2269554"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3B4452"/>
                </a:solidFill>
                <a:latin typeface="DM Sans" pitchFamily="34" charset="0"/>
                <a:ea typeface="DM Sans" pitchFamily="34" charset="-122"/>
                <a:cs typeface="DM Sans" pitchFamily="34" charset="-120"/>
              </a:rPr>
              <a:t>Productos con poco stock</a:t>
            </a:r>
            <a:endParaRPr lang="en-US" sz="1200" dirty="0"/>
          </a:p>
        </p:txBody>
      </p:sp>
      <p:sp>
        <p:nvSpPr>
          <p:cNvPr id="61" name="Text 59"/>
          <p:cNvSpPr/>
          <p:nvPr/>
        </p:nvSpPr>
        <p:spPr>
          <a:xfrm>
            <a:off x="3194050" y="4616450"/>
            <a:ext cx="279400" cy="345440"/>
          </a:xfrm>
          <a:prstGeom prst="rect">
            <a:avLst/>
          </a:prstGeom>
          <a:noFill/>
          <a:ln/>
        </p:spPr>
        <p:txBody>
          <a:bodyPr wrap="square" lIns="0" tIns="0" rIns="0" bIns="0" rtlCol="0" anchor="t">
            <a:normAutofit/>
          </a:bodyPr>
          <a:lstStyle/>
          <a:p>
            <a:pPr algn="ctr" indent="0" marL="0">
              <a:lnSpc>
                <a:spcPts val="2520"/>
              </a:lnSpc>
              <a:buNone/>
            </a:pPr>
            <a:r>
              <a:rPr lang="en-US" sz="1800" b="1" dirty="0">
                <a:solidFill>
                  <a:srgbClr val="E8913A"/>
                </a:solidFill>
                <a:latin typeface="DM Sans" pitchFamily="34" charset="0"/>
                <a:ea typeface="DM Sans" pitchFamily="34" charset="-122"/>
                <a:cs typeface="DM Sans" pitchFamily="34" charset="-120"/>
              </a:rPr>
              <a:t>→</a:t>
            </a:r>
            <a:endParaRPr lang="en-US" sz="1800" dirty="0"/>
          </a:p>
        </p:txBody>
      </p:sp>
      <p:sp>
        <p:nvSpPr>
          <p:cNvPr id="62" name="Shape 60"/>
          <p:cNvSpPr/>
          <p:nvPr/>
        </p:nvSpPr>
        <p:spPr>
          <a:xfrm>
            <a:off x="3473450" y="4347211"/>
            <a:ext cx="2482850" cy="858520"/>
          </a:xfrm>
          <a:prstGeom prst="roundRect">
            <a:avLst>
              <a:gd name="adj" fmla="val 8876"/>
            </a:avLst>
          </a:prstGeom>
          <a:solidFill>
            <a:srgbClr val="FFFFFF"/>
          </a:solidFill>
          <a:ln/>
        </p:spPr>
      </p:sp>
      <p:sp>
        <p:nvSpPr>
          <p:cNvPr id="63" name="Shape 61"/>
          <p:cNvSpPr/>
          <p:nvPr/>
        </p:nvSpPr>
        <p:spPr>
          <a:xfrm>
            <a:off x="3473450" y="4347211"/>
            <a:ext cx="2482850" cy="858520"/>
          </a:xfrm>
          <a:custGeom>
            <a:avLst/>
            <a:gdLst/>
            <a:ahLst/>
            <a:cxnLst/>
            <a:rect l="l" t="t" r="r" b="b"/>
            <a:pathLst>
              <a:path w="2482850" h="858520">
                <a:moveTo>
                  <a:pt x="0" y="76200"/>
                </a:moveTo>
                <a:lnTo>
                  <a:pt x="0" y="76200"/>
                </a:lnTo>
                <a:arcTo hR="76200" wR="76200" stAng="10800000" swAng="5400000"/>
                <a:lnTo>
                  <a:pt x="2406650" y="0"/>
                </a:lnTo>
                <a:arcTo hR="76200" wR="76200" stAng="16200000" swAng="5400000"/>
                <a:lnTo>
                  <a:pt x="2482850" y="76200"/>
                </a:lnTo>
                <a:arcTo hR="38100" wR="76200" stAng="0" swAng="-5400000"/>
                <a:lnTo>
                  <a:pt x="76200" y="38100"/>
                </a:lnTo>
                <a:arcTo hR="38100" wR="76200" stAng="16200000" swAng="-5400000"/>
                <a:close/>
              </a:path>
            </a:pathLst>
          </a:custGeom>
          <a:solidFill>
            <a:srgbClr val="3FA35C"/>
          </a:solidFill>
          <a:ln/>
        </p:spPr>
      </p:sp>
      <p:sp>
        <p:nvSpPr>
          <p:cNvPr id="64" name="Text 62"/>
          <p:cNvSpPr/>
          <p:nvPr/>
        </p:nvSpPr>
        <p:spPr>
          <a:xfrm>
            <a:off x="3613150" y="4484370"/>
            <a:ext cx="2269554" cy="203200"/>
          </a:xfrm>
          <a:prstGeom prst="rect">
            <a:avLst/>
          </a:prstGeom>
          <a:noFill/>
          <a:ln/>
        </p:spPr>
        <p:txBody>
          <a:bodyPr wrap="square" lIns="0" tIns="0" rIns="0" bIns="0" rtlCol="0" anchor="t">
            <a:normAutofit/>
          </a:bodyPr>
          <a:lstStyle/>
          <a:p>
            <a:pPr algn="l" indent="0" marL="0">
              <a:lnSpc>
                <a:spcPts val="1400"/>
              </a:lnSpc>
              <a:buNone/>
            </a:pPr>
            <a:r>
              <a:rPr lang="en-US" sz="1000" b="1" spc="50" kern="0" dirty="0">
                <a:solidFill>
                  <a:srgbClr val="2F7D45"/>
                </a:solidFill>
                <a:latin typeface="DM Sans" pitchFamily="34" charset="0"/>
                <a:ea typeface="DM Sans" pitchFamily="34" charset="-122"/>
                <a:cs typeface="DM Sans" pitchFamily="34" charset="-120"/>
              </a:rPr>
              <a:t>PACKAGE</a:t>
            </a:r>
            <a:endParaRPr lang="en-US" sz="1000" dirty="0"/>
          </a:p>
        </p:txBody>
      </p:sp>
      <p:sp>
        <p:nvSpPr>
          <p:cNvPr id="65" name="Text 63"/>
          <p:cNvSpPr/>
          <p:nvPr/>
        </p:nvSpPr>
        <p:spPr>
          <a:xfrm>
            <a:off x="3613150" y="4700270"/>
            <a:ext cx="2269554" cy="200660"/>
          </a:xfrm>
          <a:prstGeom prst="rect">
            <a:avLst/>
          </a:prstGeom>
          <a:noFill/>
          <a:ln/>
        </p:spPr>
        <p:txBody>
          <a:bodyPr wrap="square" lIns="0" tIns="0" rIns="0" bIns="0" rtlCol="0" anchor="t">
            <a:normAutofit/>
          </a:bodyPr>
          <a:lstStyle/>
          <a:p>
            <a:pPr algn="l" indent="0" marL="0">
              <a:lnSpc>
                <a:spcPts val="1380"/>
              </a:lnSpc>
              <a:buNone/>
            </a:pPr>
            <a:r>
              <a:rPr lang="en-US" sz="1150" b="1" dirty="0">
                <a:solidFill>
                  <a:srgbClr val="101826"/>
                </a:solidFill>
                <a:latin typeface="JetBrains Mono" pitchFamily="49" charset="0"/>
                <a:ea typeface="JetBrains Mono" pitchFamily="49" charset="-122"/>
                <a:cs typeface="JetBrains Mono" pitchFamily="49" charset="-120"/>
              </a:rPr>
              <a:t>sp_reponer_stock</a:t>
            </a:r>
            <a:endParaRPr lang="en-US" sz="1150" dirty="0"/>
          </a:p>
        </p:txBody>
      </p:sp>
      <p:sp>
        <p:nvSpPr>
          <p:cNvPr id="66" name="Text 64"/>
          <p:cNvSpPr/>
          <p:nvPr/>
        </p:nvSpPr>
        <p:spPr>
          <a:xfrm>
            <a:off x="3613150" y="4913630"/>
            <a:ext cx="2269554"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3B4452"/>
                </a:solidFill>
                <a:latin typeface="DM Sans" pitchFamily="34" charset="0"/>
                <a:ea typeface="DM Sans" pitchFamily="34" charset="-122"/>
                <a:cs typeface="DM Sans" pitchFamily="34" charset="-120"/>
              </a:rPr>
              <a:t>Llega mercadería</a:t>
            </a:r>
            <a:endParaRPr lang="en-US" sz="1200" dirty="0"/>
          </a:p>
        </p:txBody>
      </p:sp>
      <p:sp>
        <p:nvSpPr>
          <p:cNvPr id="67" name="Shape 65"/>
          <p:cNvSpPr/>
          <p:nvPr/>
        </p:nvSpPr>
        <p:spPr>
          <a:xfrm>
            <a:off x="6235700" y="4347211"/>
            <a:ext cx="2482850" cy="858520"/>
          </a:xfrm>
          <a:prstGeom prst="roundRect">
            <a:avLst>
              <a:gd name="adj" fmla="val 8876"/>
            </a:avLst>
          </a:prstGeom>
          <a:solidFill>
            <a:srgbClr val="FFFFFF"/>
          </a:solidFill>
          <a:ln/>
        </p:spPr>
      </p:sp>
      <p:sp>
        <p:nvSpPr>
          <p:cNvPr id="68" name="Shape 66"/>
          <p:cNvSpPr/>
          <p:nvPr/>
        </p:nvSpPr>
        <p:spPr>
          <a:xfrm>
            <a:off x="6235700" y="4347211"/>
            <a:ext cx="2482850" cy="858520"/>
          </a:xfrm>
          <a:custGeom>
            <a:avLst/>
            <a:gdLst/>
            <a:ahLst/>
            <a:cxnLst/>
            <a:rect l="l" t="t" r="r" b="b"/>
            <a:pathLst>
              <a:path w="2482850" h="858520">
                <a:moveTo>
                  <a:pt x="0" y="76200"/>
                </a:moveTo>
                <a:lnTo>
                  <a:pt x="0" y="76200"/>
                </a:lnTo>
                <a:arcTo hR="76200" wR="76200" stAng="10800000" swAng="5400000"/>
                <a:lnTo>
                  <a:pt x="2406650" y="0"/>
                </a:lnTo>
                <a:arcTo hR="76200" wR="76200" stAng="16200000" swAng="5400000"/>
                <a:lnTo>
                  <a:pt x="2482850" y="76200"/>
                </a:lnTo>
                <a:arcTo hR="38100" wR="76200" stAng="0" swAng="-5400000"/>
                <a:lnTo>
                  <a:pt x="76200" y="38100"/>
                </a:lnTo>
                <a:arcTo hR="38100" wR="76200" stAng="16200000" swAng="-5400000"/>
                <a:close/>
              </a:path>
            </a:pathLst>
          </a:custGeom>
          <a:solidFill>
            <a:srgbClr val="3FA35C"/>
          </a:solidFill>
          <a:ln/>
        </p:spPr>
      </p:sp>
      <p:sp>
        <p:nvSpPr>
          <p:cNvPr id="69" name="Text 67"/>
          <p:cNvSpPr/>
          <p:nvPr/>
        </p:nvSpPr>
        <p:spPr>
          <a:xfrm>
            <a:off x="6375400" y="4484370"/>
            <a:ext cx="2269554" cy="203200"/>
          </a:xfrm>
          <a:prstGeom prst="rect">
            <a:avLst/>
          </a:prstGeom>
          <a:noFill/>
          <a:ln/>
        </p:spPr>
        <p:txBody>
          <a:bodyPr wrap="square" lIns="0" tIns="0" rIns="0" bIns="0" rtlCol="0" anchor="t">
            <a:normAutofit/>
          </a:bodyPr>
          <a:lstStyle/>
          <a:p>
            <a:pPr algn="l" indent="0" marL="0">
              <a:lnSpc>
                <a:spcPts val="1400"/>
              </a:lnSpc>
              <a:buNone/>
            </a:pPr>
            <a:r>
              <a:rPr lang="en-US" sz="1000" b="1" spc="50" kern="0" dirty="0">
                <a:solidFill>
                  <a:srgbClr val="2F7D45"/>
                </a:solidFill>
                <a:latin typeface="DM Sans" pitchFamily="34" charset="0"/>
                <a:ea typeface="DM Sans" pitchFamily="34" charset="-122"/>
                <a:cs typeface="DM Sans" pitchFamily="34" charset="-120"/>
              </a:rPr>
              <a:t>PACKAGE</a:t>
            </a:r>
            <a:endParaRPr lang="en-US" sz="1000" dirty="0"/>
          </a:p>
        </p:txBody>
      </p:sp>
      <p:sp>
        <p:nvSpPr>
          <p:cNvPr id="70" name="Text 68"/>
          <p:cNvSpPr/>
          <p:nvPr/>
        </p:nvSpPr>
        <p:spPr>
          <a:xfrm>
            <a:off x="6375400" y="4700270"/>
            <a:ext cx="2269554" cy="200660"/>
          </a:xfrm>
          <a:prstGeom prst="rect">
            <a:avLst/>
          </a:prstGeom>
          <a:noFill/>
          <a:ln/>
        </p:spPr>
        <p:txBody>
          <a:bodyPr wrap="square" lIns="0" tIns="0" rIns="0" bIns="0" rtlCol="0" anchor="t">
            <a:normAutofit/>
          </a:bodyPr>
          <a:lstStyle/>
          <a:p>
            <a:pPr algn="l" indent="0" marL="0">
              <a:lnSpc>
                <a:spcPts val="1380"/>
              </a:lnSpc>
              <a:buNone/>
            </a:pPr>
            <a:r>
              <a:rPr lang="en-US" sz="1150" b="1" dirty="0">
                <a:solidFill>
                  <a:srgbClr val="101826"/>
                </a:solidFill>
                <a:latin typeface="JetBrains Mono" pitchFamily="49" charset="0"/>
                <a:ea typeface="JetBrains Mono" pitchFamily="49" charset="-122"/>
                <a:cs typeface="JetBrains Mono" pitchFamily="49" charset="-120"/>
              </a:rPr>
              <a:t>sp_resumen_cliente</a:t>
            </a:r>
            <a:endParaRPr lang="en-US" sz="1150" dirty="0"/>
          </a:p>
        </p:txBody>
      </p:sp>
      <p:sp>
        <p:nvSpPr>
          <p:cNvPr id="71" name="Text 69"/>
          <p:cNvSpPr/>
          <p:nvPr/>
        </p:nvSpPr>
        <p:spPr>
          <a:xfrm>
            <a:off x="6375400" y="4913630"/>
            <a:ext cx="2269554"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3B4452"/>
                </a:solidFill>
                <a:latin typeface="DM Sans" pitchFamily="34" charset="0"/>
                <a:ea typeface="DM Sans" pitchFamily="34" charset="-122"/>
                <a:cs typeface="DM Sans" pitchFamily="34" charset="-120"/>
              </a:rPr>
              <a:t>Compras y descuento</a:t>
            </a:r>
            <a:endParaRPr lang="en-US" sz="1200" dirty="0"/>
          </a:p>
        </p:txBody>
      </p:sp>
      <p:sp>
        <p:nvSpPr>
          <p:cNvPr id="72" name="Shape 70"/>
          <p:cNvSpPr/>
          <p:nvPr/>
        </p:nvSpPr>
        <p:spPr>
          <a:xfrm>
            <a:off x="8997950" y="4347211"/>
            <a:ext cx="2482850" cy="858520"/>
          </a:xfrm>
          <a:prstGeom prst="roundRect">
            <a:avLst>
              <a:gd name="adj" fmla="val 8876"/>
            </a:avLst>
          </a:prstGeom>
          <a:solidFill>
            <a:srgbClr val="FFFFFF"/>
          </a:solidFill>
          <a:ln/>
        </p:spPr>
      </p:sp>
      <p:sp>
        <p:nvSpPr>
          <p:cNvPr id="73" name="Shape 71"/>
          <p:cNvSpPr/>
          <p:nvPr/>
        </p:nvSpPr>
        <p:spPr>
          <a:xfrm>
            <a:off x="8997950" y="4347211"/>
            <a:ext cx="2482850" cy="858520"/>
          </a:xfrm>
          <a:custGeom>
            <a:avLst/>
            <a:gdLst/>
            <a:ahLst/>
            <a:cxnLst/>
            <a:rect l="l" t="t" r="r" b="b"/>
            <a:pathLst>
              <a:path w="2482850" h="858520">
                <a:moveTo>
                  <a:pt x="0" y="76200"/>
                </a:moveTo>
                <a:lnTo>
                  <a:pt x="0" y="76200"/>
                </a:lnTo>
                <a:arcTo hR="76200" wR="76200" stAng="10800000" swAng="5400000"/>
                <a:lnTo>
                  <a:pt x="2406650" y="0"/>
                </a:lnTo>
                <a:arcTo hR="76200" wR="76200" stAng="16200000" swAng="5400000"/>
                <a:lnTo>
                  <a:pt x="2482850" y="76200"/>
                </a:lnTo>
                <a:arcTo hR="38100" wR="76200" stAng="0" swAng="-5400000"/>
                <a:lnTo>
                  <a:pt x="76200" y="38100"/>
                </a:lnTo>
                <a:arcTo hR="38100" wR="76200" stAng="16200000" swAng="-5400000"/>
                <a:close/>
              </a:path>
            </a:pathLst>
          </a:custGeom>
          <a:solidFill>
            <a:srgbClr val="3FA35C"/>
          </a:solidFill>
          <a:ln/>
        </p:spPr>
      </p:sp>
      <p:sp>
        <p:nvSpPr>
          <p:cNvPr id="74" name="Text 72"/>
          <p:cNvSpPr/>
          <p:nvPr/>
        </p:nvSpPr>
        <p:spPr>
          <a:xfrm>
            <a:off x="9137650" y="4484370"/>
            <a:ext cx="2269554" cy="203200"/>
          </a:xfrm>
          <a:prstGeom prst="rect">
            <a:avLst/>
          </a:prstGeom>
          <a:noFill/>
          <a:ln/>
        </p:spPr>
        <p:txBody>
          <a:bodyPr wrap="square" lIns="0" tIns="0" rIns="0" bIns="0" rtlCol="0" anchor="t">
            <a:normAutofit/>
          </a:bodyPr>
          <a:lstStyle/>
          <a:p>
            <a:pPr algn="l" indent="0" marL="0">
              <a:lnSpc>
                <a:spcPts val="1400"/>
              </a:lnSpc>
              <a:buNone/>
            </a:pPr>
            <a:r>
              <a:rPr lang="en-US" sz="1000" b="1" spc="50" kern="0" dirty="0">
                <a:solidFill>
                  <a:srgbClr val="2F7D45"/>
                </a:solidFill>
                <a:latin typeface="DM Sans" pitchFamily="34" charset="0"/>
                <a:ea typeface="DM Sans" pitchFamily="34" charset="-122"/>
                <a:cs typeface="DM Sans" pitchFamily="34" charset="-120"/>
              </a:rPr>
              <a:t>PRIVADO</a:t>
            </a:r>
            <a:endParaRPr lang="en-US" sz="1000" dirty="0"/>
          </a:p>
        </p:txBody>
      </p:sp>
      <p:sp>
        <p:nvSpPr>
          <p:cNvPr id="75" name="Text 73"/>
          <p:cNvSpPr/>
          <p:nvPr/>
        </p:nvSpPr>
        <p:spPr>
          <a:xfrm>
            <a:off x="9137650" y="4700270"/>
            <a:ext cx="2269554" cy="200660"/>
          </a:xfrm>
          <a:prstGeom prst="rect">
            <a:avLst/>
          </a:prstGeom>
          <a:noFill/>
          <a:ln/>
        </p:spPr>
        <p:txBody>
          <a:bodyPr wrap="square" lIns="0" tIns="0" rIns="0" bIns="0" rtlCol="0" anchor="t">
            <a:normAutofit/>
          </a:bodyPr>
          <a:lstStyle/>
          <a:p>
            <a:pPr algn="l" indent="0" marL="0">
              <a:lnSpc>
                <a:spcPts val="1380"/>
              </a:lnSpc>
              <a:buNone/>
            </a:pPr>
            <a:r>
              <a:rPr lang="en-US" sz="1150" b="1" dirty="0">
                <a:solidFill>
                  <a:srgbClr val="101826"/>
                </a:solidFill>
                <a:latin typeface="JetBrains Mono" pitchFamily="49" charset="0"/>
                <a:ea typeface="JetBrains Mono" pitchFamily="49" charset="-122"/>
                <a:cs typeface="JetBrains Mono" pitchFamily="49" charset="-120"/>
              </a:rPr>
              <a:t>sp_registrar_log</a:t>
            </a:r>
            <a:endParaRPr lang="en-US" sz="1150" dirty="0"/>
          </a:p>
        </p:txBody>
      </p:sp>
      <p:sp>
        <p:nvSpPr>
          <p:cNvPr id="76" name="Text 74"/>
          <p:cNvSpPr/>
          <p:nvPr/>
        </p:nvSpPr>
        <p:spPr>
          <a:xfrm>
            <a:off x="9137650" y="4913630"/>
            <a:ext cx="2269554"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3B4452"/>
                </a:solidFill>
                <a:latin typeface="DM Sans" pitchFamily="34" charset="0"/>
                <a:ea typeface="DM Sans" pitchFamily="34" charset="-122"/>
                <a:cs typeface="DM Sans" pitchFamily="34" charset="-120"/>
              </a:rPr>
              <a:t>Anota errores internos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558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A4540B"/>
                </a:solidFill>
                <a:latin typeface="DM Sans" pitchFamily="34" charset="0"/>
                <a:ea typeface="DM Sans" pitchFamily="34" charset="-122"/>
                <a:cs typeface="DM Sans" pitchFamily="34" charset="-120"/>
              </a:rPr>
              <a:t>PROCEDIMIENTOS · IE2.1.2</a:t>
            </a:r>
            <a:endParaRPr lang="en-US" sz="1300" dirty="0"/>
          </a:p>
        </p:txBody>
      </p:sp>
      <p:sp>
        <p:nvSpPr>
          <p:cNvPr id="3" name="Text 1"/>
          <p:cNvSpPr/>
          <p:nvPr>
            <p:ph type="title"/>
          </p:nvPr>
        </p:nvSpPr>
        <p:spPr>
          <a:xfrm>
            <a:off x="812800" y="853439"/>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01826"/>
                </a:solidFill>
                <a:latin typeface="DM Sans" pitchFamily="34" charset="0"/>
                <a:ea typeface="DM Sans" pitchFamily="34" charset="-122"/>
                <a:cs typeface="DM Sans" pitchFamily="34" charset="-120"/>
              </a:rPr>
              <a:t>Procesos de la tienda, listos para ejecutar</a:t>
            </a:r>
            <a:endParaRPr lang="en-US" sz="2800" dirty="0"/>
          </a:p>
        </p:txBody>
      </p:sp>
      <p:sp>
        <p:nvSpPr>
          <p:cNvPr id="4" name="Shape 2"/>
          <p:cNvSpPr/>
          <p:nvPr/>
        </p:nvSpPr>
        <p:spPr>
          <a:xfrm>
            <a:off x="812800" y="1447800"/>
            <a:ext cx="5194300" cy="745490"/>
          </a:xfrm>
          <a:prstGeom prst="roundRect">
            <a:avLst>
              <a:gd name="adj" fmla="val 11925"/>
            </a:avLst>
          </a:prstGeom>
          <a:solidFill>
            <a:srgbClr val="FFFFFF"/>
          </a:solidFill>
          <a:ln/>
        </p:spPr>
      </p:sp>
      <p:sp>
        <p:nvSpPr>
          <p:cNvPr id="5" name="Shape 3"/>
          <p:cNvSpPr/>
          <p:nvPr/>
        </p:nvSpPr>
        <p:spPr>
          <a:xfrm>
            <a:off x="812800" y="1447800"/>
            <a:ext cx="5194300" cy="745490"/>
          </a:xfrm>
          <a:custGeom>
            <a:avLst/>
            <a:gdLst/>
            <a:ahLst/>
            <a:cxnLst/>
            <a:rect l="l" t="t" r="r" b="b"/>
            <a:pathLst>
              <a:path w="5194300" h="745490">
                <a:moveTo>
                  <a:pt x="0" y="88900"/>
                </a:moveTo>
                <a:lnTo>
                  <a:pt x="0" y="88900"/>
                </a:lnTo>
                <a:arcTo hR="88900" wR="88900" stAng="10800000" swAng="5400000"/>
                <a:lnTo>
                  <a:pt x="5105400" y="0"/>
                </a:lnTo>
                <a:arcTo hR="88900" wR="88900" stAng="16200000" swAng="5400000"/>
                <a:lnTo>
                  <a:pt x="5194300" y="88900"/>
                </a:lnTo>
                <a:arcTo hR="50800" wR="88900" stAng="0" swAng="-5400000"/>
                <a:lnTo>
                  <a:pt x="88900" y="38100"/>
                </a:lnTo>
                <a:arcTo hR="50800" wR="88900" stAng="16200000" swAng="-5400000"/>
                <a:close/>
              </a:path>
            </a:pathLst>
          </a:custGeom>
          <a:solidFill>
            <a:srgbClr val="E8913A"/>
          </a:solidFill>
          <a:ln/>
        </p:spPr>
      </p:sp>
      <p:sp>
        <p:nvSpPr>
          <p:cNvPr id="6" name="Text 4"/>
          <p:cNvSpPr/>
          <p:nvPr/>
        </p:nvSpPr>
        <p:spPr>
          <a:xfrm>
            <a:off x="990600" y="1597661"/>
            <a:ext cx="4983861" cy="220980"/>
          </a:xfrm>
          <a:prstGeom prst="rect">
            <a:avLst/>
          </a:prstGeom>
          <a:noFill/>
          <a:ln/>
        </p:spPr>
        <p:txBody>
          <a:bodyPr wrap="square" lIns="0" tIns="0" rIns="0" bIns="0" rtlCol="0" anchor="t">
            <a:normAutofit/>
          </a:bodyPr>
          <a:lstStyle/>
          <a:p>
            <a:pPr algn="l" indent="0" marL="0">
              <a:lnSpc>
                <a:spcPts val="1540"/>
              </a:lnSpc>
              <a:buNone/>
            </a:pPr>
            <a:r>
              <a:rPr lang="en-US" sz="1100" b="1" spc="100" kern="0" dirty="0">
                <a:solidFill>
                  <a:srgbClr val="A4540B"/>
                </a:solidFill>
                <a:latin typeface="DM Sans" pitchFamily="34" charset="0"/>
                <a:ea typeface="DM Sans" pitchFamily="34" charset="-122"/>
                <a:cs typeface="DM Sans" pitchFamily="34" charset="-120"/>
              </a:rPr>
              <a:t>QUÉ ES</a:t>
            </a:r>
            <a:endParaRPr lang="en-US" sz="1100" dirty="0"/>
          </a:p>
        </p:txBody>
      </p:sp>
      <p:sp>
        <p:nvSpPr>
          <p:cNvPr id="7" name="Text 5"/>
          <p:cNvSpPr/>
          <p:nvPr/>
        </p:nvSpPr>
        <p:spPr>
          <a:xfrm>
            <a:off x="990600" y="1831339"/>
            <a:ext cx="4983861"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01826"/>
                </a:solidFill>
                <a:latin typeface="DM Sans" pitchFamily="34" charset="0"/>
                <a:ea typeface="DM Sans" pitchFamily="34" charset="-122"/>
                <a:cs typeface="DM Sans" pitchFamily="34" charset="-120"/>
              </a:rPr>
              <a:t>Proceso guardado que ejecuta pasos</a:t>
            </a:r>
            <a:endParaRPr lang="en-US" sz="1500" dirty="0"/>
          </a:p>
        </p:txBody>
      </p:sp>
      <p:sp>
        <p:nvSpPr>
          <p:cNvPr id="8" name="Shape 6"/>
          <p:cNvSpPr/>
          <p:nvPr/>
        </p:nvSpPr>
        <p:spPr>
          <a:xfrm>
            <a:off x="6184900" y="1447800"/>
            <a:ext cx="5194300" cy="745490"/>
          </a:xfrm>
          <a:prstGeom prst="roundRect">
            <a:avLst>
              <a:gd name="adj" fmla="val 11925"/>
            </a:avLst>
          </a:prstGeom>
          <a:solidFill>
            <a:srgbClr val="FFFFFF"/>
          </a:solidFill>
          <a:ln/>
        </p:spPr>
      </p:sp>
      <p:sp>
        <p:nvSpPr>
          <p:cNvPr id="9" name="Shape 7"/>
          <p:cNvSpPr/>
          <p:nvPr/>
        </p:nvSpPr>
        <p:spPr>
          <a:xfrm>
            <a:off x="6184900" y="1447800"/>
            <a:ext cx="5194300" cy="745490"/>
          </a:xfrm>
          <a:custGeom>
            <a:avLst/>
            <a:gdLst/>
            <a:ahLst/>
            <a:cxnLst/>
            <a:rect l="l" t="t" r="r" b="b"/>
            <a:pathLst>
              <a:path w="5194300" h="745490">
                <a:moveTo>
                  <a:pt x="0" y="88900"/>
                </a:moveTo>
                <a:lnTo>
                  <a:pt x="0" y="88900"/>
                </a:lnTo>
                <a:arcTo hR="88900" wR="88900" stAng="10800000" swAng="5400000"/>
                <a:lnTo>
                  <a:pt x="5105400" y="0"/>
                </a:lnTo>
                <a:arcTo hR="88900" wR="88900" stAng="16200000" swAng="5400000"/>
                <a:lnTo>
                  <a:pt x="5194300" y="88900"/>
                </a:lnTo>
                <a:arcTo hR="50800" wR="88900" stAng="0" swAng="-5400000"/>
                <a:lnTo>
                  <a:pt x="88900" y="38100"/>
                </a:lnTo>
                <a:arcTo hR="50800" wR="88900" stAng="16200000" swAng="-5400000"/>
                <a:close/>
              </a:path>
            </a:pathLst>
          </a:custGeom>
          <a:solidFill>
            <a:srgbClr val="2B8CBE"/>
          </a:solidFill>
          <a:ln/>
        </p:spPr>
      </p:sp>
      <p:sp>
        <p:nvSpPr>
          <p:cNvPr id="10" name="Text 8"/>
          <p:cNvSpPr/>
          <p:nvPr/>
        </p:nvSpPr>
        <p:spPr>
          <a:xfrm>
            <a:off x="6362700" y="1597661"/>
            <a:ext cx="4983861" cy="220980"/>
          </a:xfrm>
          <a:prstGeom prst="rect">
            <a:avLst/>
          </a:prstGeom>
          <a:noFill/>
          <a:ln/>
        </p:spPr>
        <p:txBody>
          <a:bodyPr wrap="square" lIns="0" tIns="0" rIns="0" bIns="0" rtlCol="0" anchor="t">
            <a:normAutofit/>
          </a:bodyPr>
          <a:lstStyle/>
          <a:p>
            <a:pPr algn="l" indent="0" marL="0">
              <a:lnSpc>
                <a:spcPts val="1540"/>
              </a:lnSpc>
              <a:buNone/>
            </a:pPr>
            <a:r>
              <a:rPr lang="en-US" sz="1100" b="1" spc="100" kern="0" dirty="0">
                <a:solidFill>
                  <a:srgbClr val="2B6E8C"/>
                </a:solidFill>
                <a:latin typeface="DM Sans" pitchFamily="34" charset="0"/>
                <a:ea typeface="DM Sans" pitchFamily="34" charset="-122"/>
                <a:cs typeface="DM Sans" pitchFamily="34" charset="-120"/>
              </a:rPr>
              <a:t>CÓMO SE COMPORTA</a:t>
            </a:r>
            <a:endParaRPr lang="en-US" sz="1100" dirty="0"/>
          </a:p>
        </p:txBody>
      </p:sp>
      <p:sp>
        <p:nvSpPr>
          <p:cNvPr id="11" name="Text 9"/>
          <p:cNvSpPr/>
          <p:nvPr/>
        </p:nvSpPr>
        <p:spPr>
          <a:xfrm>
            <a:off x="6362700" y="1831339"/>
            <a:ext cx="4983861"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01826"/>
                </a:solidFill>
                <a:latin typeface="DM Sans" pitchFamily="34" charset="0"/>
                <a:ea typeface="DM Sans" pitchFamily="34" charset="-122"/>
                <a:cs typeface="DM Sans" pitchFamily="34" charset="-120"/>
              </a:rPr>
              <a:t>No devuelve valor · se ejecuta con EXEC</a:t>
            </a:r>
            <a:endParaRPr lang="en-US" sz="1500" dirty="0"/>
          </a:p>
        </p:txBody>
      </p:sp>
      <p:sp>
        <p:nvSpPr>
          <p:cNvPr id="12" name="Shape 10"/>
          <p:cNvSpPr/>
          <p:nvPr/>
        </p:nvSpPr>
        <p:spPr>
          <a:xfrm>
            <a:off x="812800" y="2396489"/>
            <a:ext cx="5194300" cy="2049780"/>
          </a:xfrm>
          <a:prstGeom prst="roundRect">
            <a:avLst>
              <a:gd name="adj" fmla="val 4957"/>
            </a:avLst>
          </a:prstGeom>
          <a:solidFill>
            <a:srgbClr val="FFFFFF"/>
          </a:solidFill>
          <a:ln/>
        </p:spPr>
      </p:sp>
      <p:sp>
        <p:nvSpPr>
          <p:cNvPr id="13" name="Shape 11"/>
          <p:cNvSpPr/>
          <p:nvPr/>
        </p:nvSpPr>
        <p:spPr>
          <a:xfrm>
            <a:off x="812800" y="2396489"/>
            <a:ext cx="5194300" cy="2049780"/>
          </a:xfrm>
          <a:custGeom>
            <a:avLst/>
            <a:gdLst/>
            <a:ahLst/>
            <a:cxnLst/>
            <a:rect l="l" t="t" r="r" b="b"/>
            <a:pathLst>
              <a:path w="5194300" h="2049780">
                <a:moveTo>
                  <a:pt x="101600" y="2049780"/>
                </a:moveTo>
                <a:lnTo>
                  <a:pt x="101600" y="2049780"/>
                </a:lnTo>
                <a:arcTo hR="101600" wR="101600" stAng="5400000" swAng="5400000"/>
                <a:lnTo>
                  <a:pt x="0" y="101600"/>
                </a:lnTo>
                <a:arcTo hR="101600" wR="101600" stAng="10800000" swAng="5400000"/>
                <a:lnTo>
                  <a:pt x="101600" y="0"/>
                </a:lnTo>
                <a:arcTo hR="101600" wR="50800" stAng="16200000" swAng="-5400000"/>
                <a:lnTo>
                  <a:pt x="50800" y="1948180"/>
                </a:lnTo>
                <a:arcTo hR="101600" wR="50800" stAng="10800000" swAng="-5400000"/>
                <a:close/>
              </a:path>
            </a:pathLst>
          </a:custGeom>
          <a:solidFill>
            <a:srgbClr val="E8913A"/>
          </a:solidFill>
          <a:ln/>
        </p:spPr>
      </p:sp>
      <p:sp>
        <p:nvSpPr>
          <p:cNvPr id="14" name="Text 12"/>
          <p:cNvSpPr/>
          <p:nvPr/>
        </p:nvSpPr>
        <p:spPr>
          <a:xfrm>
            <a:off x="1092200" y="2599689"/>
            <a:ext cx="482688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01826"/>
                </a:solidFill>
                <a:latin typeface="JetBrains Mono" pitchFamily="49" charset="0"/>
                <a:ea typeface="JetBrains Mono" pitchFamily="49" charset="-122"/>
                <a:cs typeface="JetBrains Mono" pitchFamily="49" charset="-120"/>
              </a:rPr>
              <a:t>SP_LIQUIDAR_CLIENTES</a:t>
            </a:r>
            <a:endParaRPr lang="en-US" sz="1500" dirty="0"/>
          </a:p>
        </p:txBody>
      </p:sp>
      <p:sp>
        <p:nvSpPr>
          <p:cNvPr id="15" name="Text 13"/>
          <p:cNvSpPr/>
          <p:nvPr/>
        </p:nvSpPr>
        <p:spPr>
          <a:xfrm>
            <a:off x="1092200" y="2917189"/>
            <a:ext cx="4826889"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4540B"/>
                </a:solidFill>
                <a:latin typeface="DM Sans" pitchFamily="34" charset="0"/>
                <a:ea typeface="DM Sans" pitchFamily="34" charset="-122"/>
                <a:cs typeface="DM Sans" pitchFamily="34" charset="-120"/>
              </a:rPr>
              <a:t>Sin parámetros</a:t>
            </a:r>
            <a:endParaRPr lang="en-US" sz="1200" dirty="0"/>
          </a:p>
        </p:txBody>
      </p:sp>
      <p:sp>
        <p:nvSpPr>
          <p:cNvPr id="16" name="Text 14"/>
          <p:cNvSpPr/>
          <p:nvPr/>
        </p:nvSpPr>
        <p:spPr>
          <a:xfrm>
            <a:off x="1092200" y="3219450"/>
            <a:ext cx="4826889" cy="26543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01826"/>
                </a:solidFill>
                <a:latin typeface="DM Sans" pitchFamily="34" charset="0"/>
                <a:ea typeface="DM Sans" pitchFamily="34" charset="-122"/>
                <a:cs typeface="DM Sans" pitchFamily="34" charset="-120"/>
              </a:rPr>
              <a:t>Problema:</a:t>
            </a:r>
            <a:r>
              <a:rPr lang="en-US" sz="1400" dirty="0">
                <a:solidFill>
                  <a:srgbClr val="3B4452"/>
                </a:solidFill>
                <a:latin typeface="DM Sans" pitchFamily="34" charset="0"/>
                <a:ea typeface="DM Sans" pitchFamily="34" charset="-122"/>
                <a:cs typeface="DM Sans" pitchFamily="34" charset="-120"/>
              </a:rPr>
              <a:t> cierre del periodo</a:t>
            </a:r>
            <a:endParaRPr lang="en-US" sz="1400" dirty="0"/>
          </a:p>
        </p:txBody>
      </p:sp>
      <p:sp>
        <p:nvSpPr>
          <p:cNvPr id="17" name="Text 15"/>
          <p:cNvSpPr/>
          <p:nvPr/>
        </p:nvSpPr>
        <p:spPr>
          <a:xfrm>
            <a:off x="1092200" y="3548382"/>
            <a:ext cx="4826889" cy="26543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01826"/>
                </a:solidFill>
                <a:latin typeface="DM Sans" pitchFamily="34" charset="0"/>
                <a:ea typeface="DM Sans" pitchFamily="34" charset="-122"/>
                <a:cs typeface="DM Sans" pitchFamily="34" charset="-120"/>
              </a:rPr>
              <a:t>Qué hace:</a:t>
            </a:r>
            <a:r>
              <a:rPr lang="en-US" sz="1400" dirty="0">
                <a:solidFill>
                  <a:srgbClr val="3B4452"/>
                </a:solidFill>
                <a:latin typeface="DM Sans" pitchFamily="34" charset="0"/>
                <a:ea typeface="DM Sans" pitchFamily="34" charset="-122"/>
                <a:cs typeface="DM Sans" pitchFamily="34" charset="-120"/>
              </a:rPr>
              <a:t> liquida a todos los clientes</a:t>
            </a:r>
            <a:endParaRPr lang="en-US" sz="1400" dirty="0"/>
          </a:p>
        </p:txBody>
      </p:sp>
      <p:sp>
        <p:nvSpPr>
          <p:cNvPr id="18" name="Text 16"/>
          <p:cNvSpPr/>
          <p:nvPr/>
        </p:nvSpPr>
        <p:spPr>
          <a:xfrm>
            <a:off x="1092200" y="3877311"/>
            <a:ext cx="4686300" cy="365760"/>
          </a:xfrm>
          <a:prstGeom prst="roundRect">
            <a:avLst>
              <a:gd name="adj" fmla="val 17361"/>
            </a:avLst>
          </a:prstGeom>
          <a:solidFill>
            <a:srgbClr val="101826"/>
          </a:solidFill>
          <a:ln/>
        </p:spPr>
        <p:txBody>
          <a:bodyPr wrap="square" lIns="108401" tIns="57601" rIns="0" bIns="32201" rtlCol="0" anchor="t">
            <a:normAutofit/>
          </a:bodyPr>
          <a:lstStyle/>
          <a:p>
            <a:pPr algn="l" indent="0" marL="0">
              <a:lnSpc>
                <a:spcPts val="1680"/>
              </a:lnSpc>
              <a:buNone/>
            </a:pPr>
            <a:r>
              <a:rPr lang="en-US" sz="1200" dirty="0">
                <a:solidFill>
                  <a:srgbClr val="F6F4EE"/>
                </a:solidFill>
                <a:latin typeface="JetBrains Mono" pitchFamily="49" charset="0"/>
                <a:ea typeface="JetBrains Mono" pitchFamily="49" charset="-122"/>
                <a:cs typeface="JetBrains Mono" pitchFamily="49" charset="-120"/>
              </a:rPr>
              <a:t>→ 4 clientes liquidados</a:t>
            </a:r>
            <a:endParaRPr lang="en-US" sz="1200" dirty="0"/>
          </a:p>
        </p:txBody>
      </p:sp>
      <p:sp>
        <p:nvSpPr>
          <p:cNvPr id="19" name="Shape 17"/>
          <p:cNvSpPr/>
          <p:nvPr/>
        </p:nvSpPr>
        <p:spPr>
          <a:xfrm>
            <a:off x="6184900" y="2396489"/>
            <a:ext cx="5194300" cy="2049780"/>
          </a:xfrm>
          <a:prstGeom prst="roundRect">
            <a:avLst>
              <a:gd name="adj" fmla="val 4957"/>
            </a:avLst>
          </a:prstGeom>
          <a:solidFill>
            <a:srgbClr val="FFFFFF"/>
          </a:solidFill>
          <a:ln/>
        </p:spPr>
      </p:sp>
      <p:sp>
        <p:nvSpPr>
          <p:cNvPr id="20" name="Shape 18"/>
          <p:cNvSpPr/>
          <p:nvPr/>
        </p:nvSpPr>
        <p:spPr>
          <a:xfrm>
            <a:off x="6184900" y="2396489"/>
            <a:ext cx="5194300" cy="2049780"/>
          </a:xfrm>
          <a:custGeom>
            <a:avLst/>
            <a:gdLst/>
            <a:ahLst/>
            <a:cxnLst/>
            <a:rect l="l" t="t" r="r" b="b"/>
            <a:pathLst>
              <a:path w="5194300" h="2049780">
                <a:moveTo>
                  <a:pt x="101600" y="2049780"/>
                </a:moveTo>
                <a:lnTo>
                  <a:pt x="101600" y="2049780"/>
                </a:lnTo>
                <a:arcTo hR="101600" wR="101600" stAng="5400000" swAng="5400000"/>
                <a:lnTo>
                  <a:pt x="0" y="101600"/>
                </a:lnTo>
                <a:arcTo hR="101600" wR="101600" stAng="10800000" swAng="5400000"/>
                <a:lnTo>
                  <a:pt x="101600" y="0"/>
                </a:lnTo>
                <a:arcTo hR="101600" wR="50800" stAng="16200000" swAng="-5400000"/>
                <a:lnTo>
                  <a:pt x="50800" y="1948180"/>
                </a:lnTo>
                <a:arcTo hR="101600" wR="50800" stAng="10800000" swAng="-5400000"/>
                <a:close/>
              </a:path>
            </a:pathLst>
          </a:custGeom>
          <a:solidFill>
            <a:srgbClr val="2B8CBE"/>
          </a:solidFill>
          <a:ln/>
        </p:spPr>
      </p:sp>
      <p:sp>
        <p:nvSpPr>
          <p:cNvPr id="21" name="Text 19"/>
          <p:cNvSpPr/>
          <p:nvPr/>
        </p:nvSpPr>
        <p:spPr>
          <a:xfrm>
            <a:off x="6464300" y="2599689"/>
            <a:ext cx="482688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01826"/>
                </a:solidFill>
                <a:latin typeface="JetBrains Mono" pitchFamily="49" charset="0"/>
                <a:ea typeface="JetBrains Mono" pitchFamily="49" charset="-122"/>
                <a:cs typeface="JetBrains Mono" pitchFamily="49" charset="-120"/>
              </a:rPr>
              <a:t>SP_REGISTRAR_VENTA</a:t>
            </a:r>
            <a:endParaRPr lang="en-US" sz="1500" dirty="0"/>
          </a:p>
        </p:txBody>
      </p:sp>
      <p:sp>
        <p:nvSpPr>
          <p:cNvPr id="22" name="Text 20"/>
          <p:cNvSpPr/>
          <p:nvPr/>
        </p:nvSpPr>
        <p:spPr>
          <a:xfrm>
            <a:off x="6464300" y="2917189"/>
            <a:ext cx="4826889"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4540B"/>
                </a:solidFill>
                <a:latin typeface="DM Sans" pitchFamily="34" charset="0"/>
                <a:ea typeface="DM Sans" pitchFamily="34" charset="-122"/>
                <a:cs typeface="DM Sans" pitchFamily="34" charset="-120"/>
              </a:rPr>
              <a:t>Con parámetros</a:t>
            </a:r>
            <a:endParaRPr lang="en-US" sz="1200" dirty="0"/>
          </a:p>
        </p:txBody>
      </p:sp>
      <p:sp>
        <p:nvSpPr>
          <p:cNvPr id="23" name="Text 21"/>
          <p:cNvSpPr/>
          <p:nvPr/>
        </p:nvSpPr>
        <p:spPr>
          <a:xfrm>
            <a:off x="6464300" y="3219450"/>
            <a:ext cx="4826889" cy="26543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01826"/>
                </a:solidFill>
                <a:latin typeface="DM Sans" pitchFamily="34" charset="0"/>
                <a:ea typeface="DM Sans" pitchFamily="34" charset="-122"/>
                <a:cs typeface="DM Sans" pitchFamily="34" charset="-120"/>
              </a:rPr>
              <a:t>Problema:</a:t>
            </a:r>
            <a:r>
              <a:rPr lang="en-US" sz="1400" dirty="0">
                <a:solidFill>
                  <a:srgbClr val="3B4452"/>
                </a:solidFill>
                <a:latin typeface="DM Sans" pitchFamily="34" charset="0"/>
                <a:ea typeface="DM Sans" pitchFamily="34" charset="-122"/>
                <a:cs typeface="DM Sans" pitchFamily="34" charset="-120"/>
              </a:rPr>
              <a:t> venta del mostrador</a:t>
            </a:r>
            <a:endParaRPr lang="en-US" sz="1400" dirty="0"/>
          </a:p>
        </p:txBody>
      </p:sp>
      <p:sp>
        <p:nvSpPr>
          <p:cNvPr id="24" name="Text 22"/>
          <p:cNvSpPr/>
          <p:nvPr/>
        </p:nvSpPr>
        <p:spPr>
          <a:xfrm>
            <a:off x="6464300" y="3548382"/>
            <a:ext cx="4826889" cy="26543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01826"/>
                </a:solidFill>
                <a:latin typeface="DM Sans" pitchFamily="34" charset="0"/>
                <a:ea typeface="DM Sans" pitchFamily="34" charset="-122"/>
                <a:cs typeface="DM Sans" pitchFamily="34" charset="-120"/>
              </a:rPr>
              <a:t>Qué hace:</a:t>
            </a:r>
            <a:r>
              <a:rPr lang="en-US" sz="1400" dirty="0">
                <a:solidFill>
                  <a:srgbClr val="3B4452"/>
                </a:solidFill>
                <a:latin typeface="DM Sans" pitchFamily="34" charset="0"/>
                <a:ea typeface="DM Sans" pitchFamily="34" charset="-122"/>
                <a:cs typeface="DM Sans" pitchFamily="34" charset="-120"/>
              </a:rPr>
              <a:t> valida y registra; si falla, ROLLBACK</a:t>
            </a:r>
            <a:endParaRPr lang="en-US" sz="1400" dirty="0"/>
          </a:p>
        </p:txBody>
      </p:sp>
      <p:sp>
        <p:nvSpPr>
          <p:cNvPr id="25" name="Text 23"/>
          <p:cNvSpPr/>
          <p:nvPr/>
        </p:nvSpPr>
        <p:spPr>
          <a:xfrm>
            <a:off x="6464300" y="3877311"/>
            <a:ext cx="4686300" cy="365760"/>
          </a:xfrm>
          <a:prstGeom prst="roundRect">
            <a:avLst>
              <a:gd name="adj" fmla="val 17361"/>
            </a:avLst>
          </a:prstGeom>
          <a:solidFill>
            <a:srgbClr val="101826"/>
          </a:solidFill>
          <a:ln/>
        </p:spPr>
        <p:txBody>
          <a:bodyPr wrap="square" lIns="108401" tIns="57601" rIns="0" bIns="32201" rtlCol="0" anchor="t">
            <a:normAutofit/>
          </a:bodyPr>
          <a:lstStyle/>
          <a:p>
            <a:pPr algn="l" indent="0" marL="0">
              <a:lnSpc>
                <a:spcPts val="1680"/>
              </a:lnSpc>
              <a:buNone/>
            </a:pPr>
            <a:r>
              <a:rPr lang="en-US" sz="1200" dirty="0">
                <a:solidFill>
                  <a:srgbClr val="F6F4EE"/>
                </a:solidFill>
                <a:latin typeface="JetBrains Mono" pitchFamily="49" charset="0"/>
                <a:ea typeface="JetBrains Mono" pitchFamily="49" charset="-122"/>
                <a:cs typeface="JetBrains Mono" pitchFamily="49" charset="-120"/>
              </a:rPr>
              <a:t>AC002: 20 → 18 · GE002: rechazada</a:t>
            </a:r>
            <a:endParaRPr lang="en-US" sz="1200" dirty="0"/>
          </a:p>
        </p:txBody>
      </p:sp>
      <p:sp>
        <p:nvSpPr>
          <p:cNvPr id="26" name="Text 24"/>
          <p:cNvSpPr/>
          <p:nvPr/>
        </p:nvSpPr>
        <p:spPr>
          <a:xfrm>
            <a:off x="812800" y="4649471"/>
            <a:ext cx="10566400" cy="561975"/>
          </a:xfrm>
          <a:prstGeom prst="roundRect">
            <a:avLst>
              <a:gd name="adj" fmla="val 18079"/>
            </a:avLst>
          </a:prstGeom>
          <a:solidFill>
            <a:srgbClr val="101826"/>
          </a:solidFill>
          <a:ln/>
        </p:spPr>
        <p:txBody>
          <a:bodyPr wrap="square" lIns="173442" tIns="122642" rIns="0" bIns="97242" rtlCol="0" anchor="t">
            <a:normAutofit/>
          </a:bodyPr>
          <a:lstStyle/>
          <a:p>
            <a:pPr algn="l" indent="0" marL="0">
              <a:lnSpc>
                <a:spcPts val="2025"/>
              </a:lnSpc>
              <a:buNone/>
            </a:pPr>
            <a:r>
              <a:rPr lang="en-US" sz="1500" b="1" dirty="0">
                <a:solidFill>
                  <a:srgbClr val="F0A35C"/>
                </a:solidFill>
                <a:latin typeface="DM Sans" pitchFamily="34" charset="0"/>
                <a:ea typeface="DM Sans" pitchFamily="34" charset="-122"/>
                <a:cs typeface="DM Sans" pitchFamily="34" charset="-120"/>
              </a:rPr>
              <a:t>¿Por qué procedimiento?</a:t>
            </a:r>
            <a:r>
              <a:rPr lang="en-US" sz="1500" dirty="0">
                <a:solidFill>
                  <a:srgbClr val="F6F4EE"/>
                </a:solidFill>
                <a:latin typeface="DM Sans" pitchFamily="34" charset="0"/>
                <a:ea typeface="DM Sans" pitchFamily="34" charset="-122"/>
                <a:cs typeface="DM Sans" pitchFamily="34" charset="-120"/>
              </a:rPr>
              <a:t> Ejecuta una tarea, no devuelve un valor.</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558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A4540B"/>
                </a:solidFill>
                <a:latin typeface="DM Sans" pitchFamily="34" charset="0"/>
                <a:ea typeface="DM Sans" pitchFamily="34" charset="-122"/>
                <a:cs typeface="DM Sans" pitchFamily="34" charset="-120"/>
              </a:rPr>
              <a:t>FUNCIONES · IE2.1.4</a:t>
            </a:r>
            <a:endParaRPr lang="en-US" sz="1300" dirty="0"/>
          </a:p>
        </p:txBody>
      </p:sp>
      <p:sp>
        <p:nvSpPr>
          <p:cNvPr id="3" name="Text 1"/>
          <p:cNvSpPr/>
          <p:nvPr>
            <p:ph type="title"/>
          </p:nvPr>
        </p:nvSpPr>
        <p:spPr>
          <a:xfrm>
            <a:off x="812800" y="853439"/>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01826"/>
                </a:solidFill>
                <a:latin typeface="DM Sans" pitchFamily="34" charset="0"/>
                <a:ea typeface="DM Sans" pitchFamily="34" charset="-122"/>
                <a:cs typeface="DM Sans" pitchFamily="34" charset="-120"/>
              </a:rPr>
              <a:t>La política de descuentos, escrita una sola vez</a:t>
            </a:r>
            <a:endParaRPr lang="en-US" sz="2800" dirty="0"/>
          </a:p>
        </p:txBody>
      </p:sp>
      <p:sp>
        <p:nvSpPr>
          <p:cNvPr id="4" name="Shape 2"/>
          <p:cNvSpPr/>
          <p:nvPr/>
        </p:nvSpPr>
        <p:spPr>
          <a:xfrm>
            <a:off x="812800" y="1447800"/>
            <a:ext cx="5194300" cy="745490"/>
          </a:xfrm>
          <a:prstGeom prst="roundRect">
            <a:avLst>
              <a:gd name="adj" fmla="val 11925"/>
            </a:avLst>
          </a:prstGeom>
          <a:solidFill>
            <a:srgbClr val="FFFFFF"/>
          </a:solidFill>
          <a:ln/>
        </p:spPr>
      </p:sp>
      <p:sp>
        <p:nvSpPr>
          <p:cNvPr id="5" name="Shape 3"/>
          <p:cNvSpPr/>
          <p:nvPr/>
        </p:nvSpPr>
        <p:spPr>
          <a:xfrm>
            <a:off x="812800" y="1447800"/>
            <a:ext cx="5194300" cy="745490"/>
          </a:xfrm>
          <a:custGeom>
            <a:avLst/>
            <a:gdLst/>
            <a:ahLst/>
            <a:cxnLst/>
            <a:rect l="l" t="t" r="r" b="b"/>
            <a:pathLst>
              <a:path w="5194300" h="745490">
                <a:moveTo>
                  <a:pt x="0" y="88900"/>
                </a:moveTo>
                <a:lnTo>
                  <a:pt x="0" y="88900"/>
                </a:lnTo>
                <a:arcTo hR="88900" wR="88900" stAng="10800000" swAng="5400000"/>
                <a:lnTo>
                  <a:pt x="5105400" y="0"/>
                </a:lnTo>
                <a:arcTo hR="88900" wR="88900" stAng="16200000" swAng="5400000"/>
                <a:lnTo>
                  <a:pt x="5194300" y="88900"/>
                </a:lnTo>
                <a:arcTo hR="50800" wR="88900" stAng="0" swAng="-5400000"/>
                <a:lnTo>
                  <a:pt x="88900" y="38100"/>
                </a:lnTo>
                <a:arcTo hR="50800" wR="88900" stAng="16200000" swAng="-5400000"/>
                <a:close/>
              </a:path>
            </a:pathLst>
          </a:custGeom>
          <a:solidFill>
            <a:srgbClr val="E8913A"/>
          </a:solidFill>
          <a:ln/>
        </p:spPr>
      </p:sp>
      <p:sp>
        <p:nvSpPr>
          <p:cNvPr id="6" name="Text 4"/>
          <p:cNvSpPr/>
          <p:nvPr/>
        </p:nvSpPr>
        <p:spPr>
          <a:xfrm>
            <a:off x="990600" y="1597661"/>
            <a:ext cx="4983861" cy="220980"/>
          </a:xfrm>
          <a:prstGeom prst="rect">
            <a:avLst/>
          </a:prstGeom>
          <a:noFill/>
          <a:ln/>
        </p:spPr>
        <p:txBody>
          <a:bodyPr wrap="square" lIns="0" tIns="0" rIns="0" bIns="0" rtlCol="0" anchor="t">
            <a:normAutofit/>
          </a:bodyPr>
          <a:lstStyle/>
          <a:p>
            <a:pPr algn="l" indent="0" marL="0">
              <a:lnSpc>
                <a:spcPts val="1540"/>
              </a:lnSpc>
              <a:buNone/>
            </a:pPr>
            <a:r>
              <a:rPr lang="en-US" sz="1100" b="1" spc="100" kern="0" dirty="0">
                <a:solidFill>
                  <a:srgbClr val="A4540B"/>
                </a:solidFill>
                <a:latin typeface="DM Sans" pitchFamily="34" charset="0"/>
                <a:ea typeface="DM Sans" pitchFamily="34" charset="-122"/>
                <a:cs typeface="DM Sans" pitchFamily="34" charset="-120"/>
              </a:rPr>
              <a:t>QUÉ ES</a:t>
            </a:r>
            <a:endParaRPr lang="en-US" sz="1100" dirty="0"/>
          </a:p>
        </p:txBody>
      </p:sp>
      <p:sp>
        <p:nvSpPr>
          <p:cNvPr id="7" name="Text 5"/>
          <p:cNvSpPr/>
          <p:nvPr/>
        </p:nvSpPr>
        <p:spPr>
          <a:xfrm>
            <a:off x="990600" y="1831339"/>
            <a:ext cx="4983861"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01826"/>
                </a:solidFill>
                <a:latin typeface="DM Sans" pitchFamily="34" charset="0"/>
                <a:ea typeface="DM Sans" pitchFamily="34" charset="-122"/>
                <a:cs typeface="DM Sans" pitchFamily="34" charset="-120"/>
              </a:rPr>
              <a:t>Recibe datos y devuelve un valor</a:t>
            </a:r>
            <a:endParaRPr lang="en-US" sz="1500" dirty="0"/>
          </a:p>
        </p:txBody>
      </p:sp>
      <p:sp>
        <p:nvSpPr>
          <p:cNvPr id="8" name="Shape 6"/>
          <p:cNvSpPr/>
          <p:nvPr/>
        </p:nvSpPr>
        <p:spPr>
          <a:xfrm>
            <a:off x="6184900" y="1447800"/>
            <a:ext cx="5194300" cy="745490"/>
          </a:xfrm>
          <a:prstGeom prst="roundRect">
            <a:avLst>
              <a:gd name="adj" fmla="val 11925"/>
            </a:avLst>
          </a:prstGeom>
          <a:solidFill>
            <a:srgbClr val="FFFFFF"/>
          </a:solidFill>
          <a:ln/>
        </p:spPr>
      </p:sp>
      <p:sp>
        <p:nvSpPr>
          <p:cNvPr id="9" name="Shape 7"/>
          <p:cNvSpPr/>
          <p:nvPr/>
        </p:nvSpPr>
        <p:spPr>
          <a:xfrm>
            <a:off x="6184900" y="1447800"/>
            <a:ext cx="5194300" cy="745490"/>
          </a:xfrm>
          <a:custGeom>
            <a:avLst/>
            <a:gdLst/>
            <a:ahLst/>
            <a:cxnLst/>
            <a:rect l="l" t="t" r="r" b="b"/>
            <a:pathLst>
              <a:path w="5194300" h="745490">
                <a:moveTo>
                  <a:pt x="0" y="88900"/>
                </a:moveTo>
                <a:lnTo>
                  <a:pt x="0" y="88900"/>
                </a:lnTo>
                <a:arcTo hR="88900" wR="88900" stAng="10800000" swAng="5400000"/>
                <a:lnTo>
                  <a:pt x="5105400" y="0"/>
                </a:lnTo>
                <a:arcTo hR="88900" wR="88900" stAng="16200000" swAng="5400000"/>
                <a:lnTo>
                  <a:pt x="5194300" y="88900"/>
                </a:lnTo>
                <a:arcTo hR="50800" wR="88900" stAng="0" swAng="-5400000"/>
                <a:lnTo>
                  <a:pt x="88900" y="38100"/>
                </a:lnTo>
                <a:arcTo hR="50800" wR="88900" stAng="16200000" swAng="-5400000"/>
                <a:close/>
              </a:path>
            </a:pathLst>
          </a:custGeom>
          <a:solidFill>
            <a:srgbClr val="2B8CBE"/>
          </a:solidFill>
          <a:ln/>
        </p:spPr>
      </p:sp>
      <p:sp>
        <p:nvSpPr>
          <p:cNvPr id="10" name="Text 8"/>
          <p:cNvSpPr/>
          <p:nvPr/>
        </p:nvSpPr>
        <p:spPr>
          <a:xfrm>
            <a:off x="6362700" y="1597661"/>
            <a:ext cx="4983861" cy="220980"/>
          </a:xfrm>
          <a:prstGeom prst="rect">
            <a:avLst/>
          </a:prstGeom>
          <a:noFill/>
          <a:ln/>
        </p:spPr>
        <p:txBody>
          <a:bodyPr wrap="square" lIns="0" tIns="0" rIns="0" bIns="0" rtlCol="0" anchor="t">
            <a:normAutofit/>
          </a:bodyPr>
          <a:lstStyle/>
          <a:p>
            <a:pPr algn="l" indent="0" marL="0">
              <a:lnSpc>
                <a:spcPts val="1540"/>
              </a:lnSpc>
              <a:buNone/>
            </a:pPr>
            <a:r>
              <a:rPr lang="en-US" sz="1100" b="1" spc="100" kern="0" dirty="0">
                <a:solidFill>
                  <a:srgbClr val="2B6E8C"/>
                </a:solidFill>
                <a:latin typeface="DM Sans" pitchFamily="34" charset="0"/>
                <a:ea typeface="DM Sans" pitchFamily="34" charset="-122"/>
                <a:cs typeface="DM Sans" pitchFamily="34" charset="-120"/>
              </a:rPr>
              <a:t>CÓMO SE COMPORTA</a:t>
            </a:r>
            <a:endParaRPr lang="en-US" sz="1100" dirty="0"/>
          </a:p>
        </p:txBody>
      </p:sp>
      <p:sp>
        <p:nvSpPr>
          <p:cNvPr id="11" name="Text 9"/>
          <p:cNvSpPr/>
          <p:nvPr/>
        </p:nvSpPr>
        <p:spPr>
          <a:xfrm>
            <a:off x="6362700" y="1831339"/>
            <a:ext cx="4983861"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01826"/>
                </a:solidFill>
                <a:latin typeface="DM Sans" pitchFamily="34" charset="0"/>
                <a:ea typeface="DM Sans" pitchFamily="34" charset="-122"/>
                <a:cs typeface="DM Sans" pitchFamily="34" charset="-120"/>
              </a:rPr>
              <a:t>Termina con RETURN · va en un SELECT</a:t>
            </a:r>
            <a:endParaRPr lang="en-US" sz="1500" dirty="0"/>
          </a:p>
        </p:txBody>
      </p:sp>
      <p:sp>
        <p:nvSpPr>
          <p:cNvPr id="12" name="Shape 10"/>
          <p:cNvSpPr/>
          <p:nvPr/>
        </p:nvSpPr>
        <p:spPr>
          <a:xfrm>
            <a:off x="812800" y="2396489"/>
            <a:ext cx="5194300" cy="2283460"/>
          </a:xfrm>
          <a:prstGeom prst="roundRect">
            <a:avLst>
              <a:gd name="adj" fmla="val 4449"/>
            </a:avLst>
          </a:prstGeom>
          <a:solidFill>
            <a:srgbClr val="FFFFFF"/>
          </a:solidFill>
          <a:ln/>
        </p:spPr>
      </p:sp>
      <p:sp>
        <p:nvSpPr>
          <p:cNvPr id="13" name="Shape 11"/>
          <p:cNvSpPr/>
          <p:nvPr/>
        </p:nvSpPr>
        <p:spPr>
          <a:xfrm>
            <a:off x="812800" y="2396489"/>
            <a:ext cx="5194300" cy="2283460"/>
          </a:xfrm>
          <a:custGeom>
            <a:avLst/>
            <a:gdLst/>
            <a:ahLst/>
            <a:cxnLst/>
            <a:rect l="l" t="t" r="r" b="b"/>
            <a:pathLst>
              <a:path w="5194300" h="2283460">
                <a:moveTo>
                  <a:pt x="101600" y="2283460"/>
                </a:moveTo>
                <a:lnTo>
                  <a:pt x="101600" y="2283460"/>
                </a:lnTo>
                <a:arcTo hR="101600" wR="101600" stAng="5400000" swAng="5400000"/>
                <a:lnTo>
                  <a:pt x="0" y="101600"/>
                </a:lnTo>
                <a:arcTo hR="101600" wR="101600" stAng="10800000" swAng="5400000"/>
                <a:lnTo>
                  <a:pt x="101600" y="0"/>
                </a:lnTo>
                <a:arcTo hR="101600" wR="50800" stAng="16200000" swAng="-5400000"/>
                <a:lnTo>
                  <a:pt x="50800" y="2181860"/>
                </a:lnTo>
                <a:arcTo hR="101600" wR="50800" stAng="10800000" swAng="-5400000"/>
                <a:close/>
              </a:path>
            </a:pathLst>
          </a:custGeom>
          <a:solidFill>
            <a:srgbClr val="E8913A"/>
          </a:solidFill>
          <a:ln/>
        </p:spPr>
      </p:sp>
      <p:sp>
        <p:nvSpPr>
          <p:cNvPr id="14" name="Text 12"/>
          <p:cNvSpPr/>
          <p:nvPr/>
        </p:nvSpPr>
        <p:spPr>
          <a:xfrm>
            <a:off x="1092200" y="2599689"/>
            <a:ext cx="482688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1826"/>
                </a:solidFill>
                <a:latin typeface="DM Sans" pitchFamily="34" charset="0"/>
                <a:ea typeface="DM Sans" pitchFamily="34" charset="-122"/>
                <a:cs typeface="DM Sans" pitchFamily="34" charset="-120"/>
              </a:rPr>
              <a:t>La regla</a:t>
            </a:r>
            <a:endParaRPr lang="en-US" sz="16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1102360" y="2942592"/>
          <a:ext cx="4676140" cy="1534160"/>
        </p:xfrm>
        <a:graphic>
          <a:graphicData uri="http://schemas.openxmlformats.org/drawingml/2006/table">
            <a:tbl>
              <a:tblPr/>
              <a:tblGrid>
                <a:gridCol w="2338070"/>
                <a:gridCol w="2338070"/>
              </a:tblGrid>
              <a:tr h="383540">
                <a:tc>
                  <a:txBody>
                    <a:bodyPr/>
                    <a:lstStyle/>
                    <a:p>
                      <a:pPr indent="0" marL="0">
                        <a:lnSpc>
                          <a:spcPts val="1960"/>
                        </a:lnSpc>
                        <a:buNone/>
                      </a:pPr>
                      <a:r>
                        <a:rPr lang="en-US" sz="1400" dirty="0">
                          <a:solidFill>
                            <a:srgbClr val="101826"/>
                          </a:solidFill>
                          <a:latin typeface="DM Sans" pitchFamily="34" charset="0"/>
                          <a:ea typeface="DM Sans" pitchFamily="34" charset="-122"/>
                          <a:cs typeface="DM Sans" pitchFamily="34" charset="-120"/>
                        </a:rPr>
                        <a:t>Menos de 200.000</a:t>
                      </a:r>
                      <a:endParaRPr lang="en-US" sz="1400" dirty="0">
                        <a:latin typeface="DM Sans" charset="0"/>
                        <a:ea typeface="DM Sans" charset="0"/>
                        <a:cs typeface="DM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01826"/>
                          </a:solidFill>
                          <a:latin typeface="DM Sans" pitchFamily="34" charset="0"/>
                          <a:ea typeface="DM Sans" pitchFamily="34" charset="-122"/>
                          <a:cs typeface="DM Sans" pitchFamily="34" charset="-120"/>
                        </a:rPr>
                        <a:t>0 %</a:t>
                      </a:r>
                      <a:endParaRPr lang="en-US" sz="1400" dirty="0">
                        <a:latin typeface="DM Sans" charset="0"/>
                        <a:ea typeface="DM Sans" charset="0"/>
                        <a:cs typeface="DM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3540">
                <a:tc>
                  <a:txBody>
                    <a:bodyPr/>
                    <a:lstStyle/>
                    <a:p>
                      <a:pPr indent="0" marL="0">
                        <a:lnSpc>
                          <a:spcPts val="1960"/>
                        </a:lnSpc>
                        <a:buNone/>
                      </a:pPr>
                      <a:r>
                        <a:rPr lang="en-US" sz="1400" dirty="0">
                          <a:solidFill>
                            <a:srgbClr val="101826"/>
                          </a:solidFill>
                          <a:latin typeface="DM Sans" pitchFamily="34" charset="0"/>
                          <a:ea typeface="DM Sans" pitchFamily="34" charset="-122"/>
                          <a:cs typeface="DM Sans" pitchFamily="34" charset="-120"/>
                        </a:rPr>
                        <a:t>200.000 a 700.000</a:t>
                      </a:r>
                      <a:endParaRPr lang="en-US" sz="1400" dirty="0">
                        <a:latin typeface="DM Sans" charset="0"/>
                        <a:ea typeface="DM Sans" charset="0"/>
                        <a:cs typeface="DM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01826"/>
                          </a:solidFill>
                          <a:latin typeface="DM Sans" pitchFamily="34" charset="0"/>
                          <a:ea typeface="DM Sans" pitchFamily="34" charset="-122"/>
                          <a:cs typeface="DM Sans" pitchFamily="34" charset="-120"/>
                        </a:rPr>
                        <a:t>5 %</a:t>
                      </a:r>
                      <a:endParaRPr lang="en-US" sz="1400" dirty="0">
                        <a:latin typeface="DM Sans" charset="0"/>
                        <a:ea typeface="DM Sans" charset="0"/>
                        <a:cs typeface="DM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3540">
                <a:tc>
                  <a:txBody>
                    <a:bodyPr/>
                    <a:lstStyle/>
                    <a:p>
                      <a:pPr indent="0" marL="0">
                        <a:lnSpc>
                          <a:spcPts val="1960"/>
                        </a:lnSpc>
                        <a:buNone/>
                      </a:pPr>
                      <a:r>
                        <a:rPr lang="en-US" sz="1400" dirty="0">
                          <a:solidFill>
                            <a:srgbClr val="101826"/>
                          </a:solidFill>
                          <a:latin typeface="DM Sans" pitchFamily="34" charset="0"/>
                          <a:ea typeface="DM Sans" pitchFamily="34" charset="-122"/>
                          <a:cs typeface="DM Sans" pitchFamily="34" charset="-120"/>
                        </a:rPr>
                        <a:t>Más de 700.000</a:t>
                      </a:r>
                      <a:endParaRPr lang="en-US" sz="1400" dirty="0">
                        <a:latin typeface="DM Sans" charset="0"/>
                        <a:ea typeface="DM Sans" charset="0"/>
                        <a:cs typeface="DM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01826"/>
                          </a:solidFill>
                          <a:latin typeface="DM Sans" pitchFamily="34" charset="0"/>
                          <a:ea typeface="DM Sans" pitchFamily="34" charset="-122"/>
                          <a:cs typeface="DM Sans" pitchFamily="34" charset="-120"/>
                        </a:rPr>
                        <a:t>10 %</a:t>
                      </a:r>
                      <a:endParaRPr lang="en-US" sz="1400" dirty="0">
                        <a:latin typeface="DM Sans" charset="0"/>
                        <a:ea typeface="DM Sans" charset="0"/>
                        <a:cs typeface="DM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3540">
                <a:tc>
                  <a:txBody>
                    <a:bodyPr/>
                    <a:lstStyle/>
                    <a:p>
                      <a:pPr indent="0" marL="0">
                        <a:lnSpc>
                          <a:spcPts val="1960"/>
                        </a:lnSpc>
                        <a:buNone/>
                      </a:pPr>
                      <a:r>
                        <a:rPr lang="en-US" sz="1400" dirty="0">
                          <a:solidFill>
                            <a:srgbClr val="101826"/>
                          </a:solidFill>
                          <a:latin typeface="DM Sans" pitchFamily="34" charset="0"/>
                          <a:ea typeface="DM Sans" pitchFamily="34" charset="-122"/>
                          <a:cs typeface="DM Sans" pitchFamily="34" charset="-120"/>
                        </a:rPr>
                        <a:t>PREMIUM</a:t>
                      </a:r>
                      <a:endParaRPr lang="en-US" sz="1400" dirty="0">
                        <a:latin typeface="DM Sans" charset="0"/>
                        <a:ea typeface="DM Sans" charset="0"/>
                        <a:cs typeface="DM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01826"/>
                          </a:solidFill>
                          <a:latin typeface="DM Sans" pitchFamily="34" charset="0"/>
                          <a:ea typeface="DM Sans" pitchFamily="34" charset="-122"/>
                          <a:cs typeface="DM Sans" pitchFamily="34" charset="-120"/>
                        </a:rPr>
                        <a:t>+2</a:t>
                      </a:r>
                      <a:endParaRPr lang="en-US" sz="1400" dirty="0">
                        <a:latin typeface="DM Sans" charset="0"/>
                        <a:ea typeface="DM Sans" charset="0"/>
                        <a:cs typeface="DM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16" name="Shape 13"/>
          <p:cNvSpPr/>
          <p:nvPr/>
        </p:nvSpPr>
        <p:spPr>
          <a:xfrm>
            <a:off x="6184900" y="2396489"/>
            <a:ext cx="5194300" cy="2283460"/>
          </a:xfrm>
          <a:prstGeom prst="roundRect">
            <a:avLst>
              <a:gd name="adj" fmla="val 4449"/>
            </a:avLst>
          </a:prstGeom>
          <a:solidFill>
            <a:srgbClr val="FFFFFF"/>
          </a:solidFill>
          <a:ln/>
        </p:spPr>
      </p:sp>
      <p:sp>
        <p:nvSpPr>
          <p:cNvPr id="17" name="Shape 14"/>
          <p:cNvSpPr/>
          <p:nvPr/>
        </p:nvSpPr>
        <p:spPr>
          <a:xfrm>
            <a:off x="6184900" y="2396489"/>
            <a:ext cx="5194300" cy="2283460"/>
          </a:xfrm>
          <a:custGeom>
            <a:avLst/>
            <a:gdLst/>
            <a:ahLst/>
            <a:cxnLst/>
            <a:rect l="l" t="t" r="r" b="b"/>
            <a:pathLst>
              <a:path w="5194300" h="2283460">
                <a:moveTo>
                  <a:pt x="101600" y="2283460"/>
                </a:moveTo>
                <a:lnTo>
                  <a:pt x="101600" y="2283460"/>
                </a:lnTo>
                <a:arcTo hR="101600" wR="101600" stAng="5400000" swAng="5400000"/>
                <a:lnTo>
                  <a:pt x="0" y="101600"/>
                </a:lnTo>
                <a:arcTo hR="101600" wR="101600" stAng="10800000" swAng="5400000"/>
                <a:lnTo>
                  <a:pt x="101600" y="0"/>
                </a:lnTo>
                <a:arcTo hR="101600" wR="50800" stAng="16200000" swAng="-5400000"/>
                <a:lnTo>
                  <a:pt x="50800" y="2181860"/>
                </a:lnTo>
                <a:arcTo hR="101600" wR="50800" stAng="10800000" swAng="-5400000"/>
                <a:close/>
              </a:path>
            </a:pathLst>
          </a:custGeom>
          <a:solidFill>
            <a:srgbClr val="2B8CBE"/>
          </a:solidFill>
          <a:ln/>
        </p:spPr>
      </p:sp>
      <p:sp>
        <p:nvSpPr>
          <p:cNvPr id="18" name="Text 15"/>
          <p:cNvSpPr/>
          <p:nvPr/>
        </p:nvSpPr>
        <p:spPr>
          <a:xfrm>
            <a:off x="6464300" y="2599689"/>
            <a:ext cx="482688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1826"/>
                </a:solidFill>
                <a:latin typeface="DM Sans" pitchFamily="34" charset="0"/>
                <a:ea typeface="DM Sans" pitchFamily="34" charset="-122"/>
                <a:cs typeface="DM Sans" pitchFamily="34" charset="-120"/>
              </a:rPr>
              <a:t>Usada en tres lugares</a:t>
            </a:r>
            <a:endParaRPr lang="en-US" sz="1600" dirty="0"/>
          </a:p>
        </p:txBody>
      </p:sp>
      <p:sp>
        <p:nvSpPr>
          <p:cNvPr id="19" name="Text 16"/>
          <p:cNvSpPr/>
          <p:nvPr/>
        </p:nvSpPr>
        <p:spPr>
          <a:xfrm>
            <a:off x="6464300" y="2932432"/>
            <a:ext cx="4826889" cy="74549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2B6E8C"/>
                </a:solidFill>
                <a:latin typeface="DM Sans" pitchFamily="34" charset="0"/>
                <a:ea typeface="DM Sans" pitchFamily="34" charset="-122"/>
                <a:cs typeface="DM Sans" pitchFamily="34" charset="-120"/>
              </a:rPr>
              <a:t>SELECT ... FROM DUAL</a:t>
            </a:r>
            <a:endParaRPr lang="en-US" sz="1400" dirty="0"/>
          </a:p>
          <a:p>
            <a:pPr algn="l" indent="0" marL="0">
              <a:lnSpc>
                <a:spcPts val="1890"/>
              </a:lnSpc>
              <a:buNone/>
            </a:pPr>
            <a:r>
              <a:rPr lang="en-US" sz="1400" dirty="0">
                <a:solidFill>
                  <a:srgbClr val="2B6E8C"/>
                </a:solidFill>
                <a:latin typeface="DM Sans" pitchFamily="34" charset="0"/>
                <a:ea typeface="DM Sans" pitchFamily="34" charset="-122"/>
                <a:cs typeface="DM Sans" pitchFamily="34" charset="-120"/>
              </a:rPr>
              <a:t>SP_LIQUIDAR_CLIENTES</a:t>
            </a:r>
            <a:endParaRPr lang="en-US" sz="1400" dirty="0"/>
          </a:p>
          <a:p>
            <a:pPr algn="l" indent="0" marL="0">
              <a:lnSpc>
                <a:spcPts val="1890"/>
              </a:lnSpc>
              <a:buNone/>
            </a:pPr>
            <a:r>
              <a:rPr lang="en-US" sz="1400" dirty="0">
                <a:solidFill>
                  <a:srgbClr val="2B6E8C"/>
                </a:solidFill>
                <a:latin typeface="DM Sans" pitchFamily="34" charset="0"/>
                <a:ea typeface="DM Sans" pitchFamily="34" charset="-122"/>
                <a:cs typeface="DM Sans" pitchFamily="34" charset="-120"/>
              </a:rPr>
              <a:t>sp_resumen_cliente</a:t>
            </a:r>
            <a:endParaRPr lang="en-US" sz="1400" dirty="0"/>
          </a:p>
        </p:txBody>
      </p:sp>
      <p:sp>
        <p:nvSpPr>
          <p:cNvPr id="20" name="Text 17"/>
          <p:cNvSpPr/>
          <p:nvPr/>
        </p:nvSpPr>
        <p:spPr>
          <a:xfrm>
            <a:off x="6464300" y="3741421"/>
            <a:ext cx="4686300" cy="579120"/>
          </a:xfrm>
          <a:prstGeom prst="roundRect">
            <a:avLst>
              <a:gd name="adj" fmla="val 10965"/>
            </a:avLst>
          </a:prstGeom>
          <a:solidFill>
            <a:srgbClr val="101826"/>
          </a:solidFill>
          <a:ln/>
        </p:spPr>
        <p:txBody>
          <a:bodyPr wrap="square" lIns="108401" tIns="57601" rIns="0" bIns="32201" rtlCol="0" anchor="t">
            <a:normAutofit/>
          </a:bodyPr>
          <a:lstStyle/>
          <a:p>
            <a:pPr algn="l" indent="0" marL="0">
              <a:lnSpc>
                <a:spcPts val="1680"/>
              </a:lnSpc>
              <a:buNone/>
            </a:pPr>
            <a:r>
              <a:rPr lang="en-US" sz="1200" dirty="0">
                <a:solidFill>
                  <a:srgbClr val="F6F4EE"/>
                </a:solidFill>
                <a:latin typeface="JetBrains Mono" pitchFamily="49" charset="0"/>
                <a:ea typeface="JetBrains Mono" pitchFamily="49" charset="-122"/>
                <a:cs typeface="JetBrains Mono" pitchFamily="49" charset="-120"/>
              </a:rPr>
              <a:t>891.950 + PREMIUM → 12</a:t>
            </a:r>
            <a:endParaRPr lang="en-US" sz="1200" dirty="0"/>
          </a:p>
          <a:p>
            <a:pPr algn="l" indent="0" marL="0">
              <a:lnSpc>
                <a:spcPts val="1680"/>
              </a:lnSpc>
              <a:buNone/>
            </a:pPr>
            <a:r>
              <a:rPr lang="en-US" sz="1200" dirty="0">
                <a:solidFill>
                  <a:srgbClr val="F6F4EE"/>
                </a:solidFill>
                <a:latin typeface="JetBrains Mono" pitchFamily="49" charset="0"/>
                <a:ea typeface="JetBrains Mono" pitchFamily="49" charset="-122"/>
                <a:cs typeface="JetBrains Mono" pitchFamily="49" charset="-120"/>
              </a:rPr>
              <a:t>Total pendiente → 2.507.890</a:t>
            </a:r>
            <a:endParaRPr lang="en-US" sz="1200" dirty="0"/>
          </a:p>
        </p:txBody>
      </p:sp>
      <p:sp>
        <p:nvSpPr>
          <p:cNvPr id="21" name="Text 18"/>
          <p:cNvSpPr/>
          <p:nvPr/>
        </p:nvSpPr>
        <p:spPr>
          <a:xfrm>
            <a:off x="812800" y="4883150"/>
            <a:ext cx="10566400" cy="561975"/>
          </a:xfrm>
          <a:prstGeom prst="roundRect">
            <a:avLst>
              <a:gd name="adj" fmla="val 18079"/>
            </a:avLst>
          </a:prstGeom>
          <a:solidFill>
            <a:srgbClr val="101826"/>
          </a:solidFill>
          <a:ln/>
        </p:spPr>
        <p:txBody>
          <a:bodyPr wrap="square" lIns="173442" tIns="122642" rIns="0" bIns="97242" rtlCol="0" anchor="t">
            <a:normAutofit/>
          </a:bodyPr>
          <a:lstStyle/>
          <a:p>
            <a:pPr algn="l" indent="0" marL="0">
              <a:lnSpc>
                <a:spcPts val="2025"/>
              </a:lnSpc>
              <a:buNone/>
            </a:pPr>
            <a:r>
              <a:rPr lang="en-US" sz="1500" b="1" dirty="0">
                <a:solidFill>
                  <a:srgbClr val="F0A35C"/>
                </a:solidFill>
                <a:latin typeface="DM Sans" pitchFamily="34" charset="0"/>
                <a:ea typeface="DM Sans" pitchFamily="34" charset="-122"/>
                <a:cs typeface="DM Sans" pitchFamily="34" charset="-120"/>
              </a:rPr>
              <a:t>¿Por qué función?</a:t>
            </a:r>
            <a:r>
              <a:rPr lang="en-US" sz="1500" dirty="0">
                <a:solidFill>
                  <a:srgbClr val="F6F4EE"/>
                </a:solidFill>
                <a:latin typeface="DM Sans" pitchFamily="34" charset="0"/>
                <a:ea typeface="DM Sans" pitchFamily="34" charset="-122"/>
                <a:cs typeface="DM Sans" pitchFamily="34" charset="-120"/>
              </a:rPr>
              <a:t> Devuelve la tasa; la regla se escribe una sola vez.</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558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A4540B"/>
                </a:solidFill>
                <a:latin typeface="DM Sans" pitchFamily="34" charset="0"/>
                <a:ea typeface="DM Sans" pitchFamily="34" charset="-122"/>
                <a:cs typeface="DM Sans" pitchFamily="34" charset="-120"/>
              </a:rPr>
              <a:t>PACKAGE · IE2.2.2</a:t>
            </a:r>
            <a:endParaRPr lang="en-US" sz="1300" dirty="0"/>
          </a:p>
        </p:txBody>
      </p:sp>
      <p:sp>
        <p:nvSpPr>
          <p:cNvPr id="3" name="Text 1"/>
          <p:cNvSpPr/>
          <p:nvPr>
            <p:ph type="title"/>
          </p:nvPr>
        </p:nvSpPr>
        <p:spPr>
          <a:xfrm>
            <a:off x="812800" y="853439"/>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01826"/>
                </a:solidFill>
                <a:latin typeface="DM Sans" pitchFamily="34" charset="0"/>
                <a:ea typeface="DM Sans" pitchFamily="34" charset="-122"/>
                <a:cs typeface="DM Sans" pitchFamily="34" charset="-120"/>
              </a:rPr>
              <a:t>Inventario y clientes en un solo módulo</a:t>
            </a:r>
            <a:endParaRPr lang="en-US" sz="2800" dirty="0"/>
          </a:p>
        </p:txBody>
      </p:sp>
      <p:sp>
        <p:nvSpPr>
          <p:cNvPr id="4" name="Shape 2"/>
          <p:cNvSpPr/>
          <p:nvPr/>
        </p:nvSpPr>
        <p:spPr>
          <a:xfrm>
            <a:off x="812800" y="1447800"/>
            <a:ext cx="5194300" cy="745490"/>
          </a:xfrm>
          <a:prstGeom prst="roundRect">
            <a:avLst>
              <a:gd name="adj" fmla="val 11925"/>
            </a:avLst>
          </a:prstGeom>
          <a:solidFill>
            <a:srgbClr val="FFFFFF"/>
          </a:solidFill>
          <a:ln/>
        </p:spPr>
      </p:sp>
      <p:sp>
        <p:nvSpPr>
          <p:cNvPr id="5" name="Shape 3"/>
          <p:cNvSpPr/>
          <p:nvPr/>
        </p:nvSpPr>
        <p:spPr>
          <a:xfrm>
            <a:off x="812800" y="1447800"/>
            <a:ext cx="5194300" cy="745490"/>
          </a:xfrm>
          <a:custGeom>
            <a:avLst/>
            <a:gdLst/>
            <a:ahLst/>
            <a:cxnLst/>
            <a:rect l="l" t="t" r="r" b="b"/>
            <a:pathLst>
              <a:path w="5194300" h="745490">
                <a:moveTo>
                  <a:pt x="0" y="88900"/>
                </a:moveTo>
                <a:lnTo>
                  <a:pt x="0" y="88900"/>
                </a:lnTo>
                <a:arcTo hR="88900" wR="88900" stAng="10800000" swAng="5400000"/>
                <a:lnTo>
                  <a:pt x="5105400" y="0"/>
                </a:lnTo>
                <a:arcTo hR="88900" wR="88900" stAng="16200000" swAng="5400000"/>
                <a:lnTo>
                  <a:pt x="5194300" y="88900"/>
                </a:lnTo>
                <a:arcTo hR="50800" wR="88900" stAng="0" swAng="-5400000"/>
                <a:lnTo>
                  <a:pt x="88900" y="38100"/>
                </a:lnTo>
                <a:arcTo hR="50800" wR="88900" stAng="16200000" swAng="-5400000"/>
                <a:close/>
              </a:path>
            </a:pathLst>
          </a:custGeom>
          <a:solidFill>
            <a:srgbClr val="E8913A"/>
          </a:solidFill>
          <a:ln/>
        </p:spPr>
      </p:sp>
      <p:sp>
        <p:nvSpPr>
          <p:cNvPr id="6" name="Text 4"/>
          <p:cNvSpPr/>
          <p:nvPr/>
        </p:nvSpPr>
        <p:spPr>
          <a:xfrm>
            <a:off x="990600" y="1597661"/>
            <a:ext cx="4983861" cy="220980"/>
          </a:xfrm>
          <a:prstGeom prst="rect">
            <a:avLst/>
          </a:prstGeom>
          <a:noFill/>
          <a:ln/>
        </p:spPr>
        <p:txBody>
          <a:bodyPr wrap="square" lIns="0" tIns="0" rIns="0" bIns="0" rtlCol="0" anchor="t">
            <a:normAutofit/>
          </a:bodyPr>
          <a:lstStyle/>
          <a:p>
            <a:pPr algn="l" indent="0" marL="0">
              <a:lnSpc>
                <a:spcPts val="1540"/>
              </a:lnSpc>
              <a:buNone/>
            </a:pPr>
            <a:r>
              <a:rPr lang="en-US" sz="1100" b="1" spc="100" kern="0" dirty="0">
                <a:solidFill>
                  <a:srgbClr val="A4540B"/>
                </a:solidFill>
                <a:latin typeface="DM Sans" pitchFamily="34" charset="0"/>
                <a:ea typeface="DM Sans" pitchFamily="34" charset="-122"/>
                <a:cs typeface="DM Sans" pitchFamily="34" charset="-120"/>
              </a:rPr>
              <a:t>QUÉ ES</a:t>
            </a:r>
            <a:endParaRPr lang="en-US" sz="1100" dirty="0"/>
          </a:p>
        </p:txBody>
      </p:sp>
      <p:sp>
        <p:nvSpPr>
          <p:cNvPr id="7" name="Text 5"/>
          <p:cNvSpPr/>
          <p:nvPr/>
        </p:nvSpPr>
        <p:spPr>
          <a:xfrm>
            <a:off x="990600" y="1831339"/>
            <a:ext cx="4983861"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01826"/>
                </a:solidFill>
                <a:latin typeface="DM Sans" pitchFamily="34" charset="0"/>
                <a:ea typeface="DM Sans" pitchFamily="34" charset="-122"/>
                <a:cs typeface="DM Sans" pitchFamily="34" charset="-120"/>
              </a:rPr>
              <a:t>Agrupa objetos bajo un solo nombre</a:t>
            </a:r>
            <a:endParaRPr lang="en-US" sz="1500" dirty="0"/>
          </a:p>
        </p:txBody>
      </p:sp>
      <p:sp>
        <p:nvSpPr>
          <p:cNvPr id="8" name="Shape 6"/>
          <p:cNvSpPr/>
          <p:nvPr/>
        </p:nvSpPr>
        <p:spPr>
          <a:xfrm>
            <a:off x="6184900" y="1447800"/>
            <a:ext cx="5194300" cy="745490"/>
          </a:xfrm>
          <a:prstGeom prst="roundRect">
            <a:avLst>
              <a:gd name="adj" fmla="val 11925"/>
            </a:avLst>
          </a:prstGeom>
          <a:solidFill>
            <a:srgbClr val="FFFFFF"/>
          </a:solidFill>
          <a:ln/>
        </p:spPr>
      </p:sp>
      <p:sp>
        <p:nvSpPr>
          <p:cNvPr id="9" name="Shape 7"/>
          <p:cNvSpPr/>
          <p:nvPr/>
        </p:nvSpPr>
        <p:spPr>
          <a:xfrm>
            <a:off x="6184900" y="1447800"/>
            <a:ext cx="5194300" cy="745490"/>
          </a:xfrm>
          <a:custGeom>
            <a:avLst/>
            <a:gdLst/>
            <a:ahLst/>
            <a:cxnLst/>
            <a:rect l="l" t="t" r="r" b="b"/>
            <a:pathLst>
              <a:path w="5194300" h="745490">
                <a:moveTo>
                  <a:pt x="0" y="88900"/>
                </a:moveTo>
                <a:lnTo>
                  <a:pt x="0" y="88900"/>
                </a:lnTo>
                <a:arcTo hR="88900" wR="88900" stAng="10800000" swAng="5400000"/>
                <a:lnTo>
                  <a:pt x="5105400" y="0"/>
                </a:lnTo>
                <a:arcTo hR="88900" wR="88900" stAng="16200000" swAng="5400000"/>
                <a:lnTo>
                  <a:pt x="5194300" y="88900"/>
                </a:lnTo>
                <a:arcTo hR="50800" wR="88900" stAng="0" swAng="-5400000"/>
                <a:lnTo>
                  <a:pt x="88900" y="38100"/>
                </a:lnTo>
                <a:arcTo hR="50800" wR="88900" stAng="16200000" swAng="-5400000"/>
                <a:close/>
              </a:path>
            </a:pathLst>
          </a:custGeom>
          <a:solidFill>
            <a:srgbClr val="2B8CBE"/>
          </a:solidFill>
          <a:ln/>
        </p:spPr>
      </p:sp>
      <p:sp>
        <p:nvSpPr>
          <p:cNvPr id="10" name="Text 8"/>
          <p:cNvSpPr/>
          <p:nvPr/>
        </p:nvSpPr>
        <p:spPr>
          <a:xfrm>
            <a:off x="6362700" y="1597661"/>
            <a:ext cx="4983861" cy="220980"/>
          </a:xfrm>
          <a:prstGeom prst="rect">
            <a:avLst/>
          </a:prstGeom>
          <a:noFill/>
          <a:ln/>
        </p:spPr>
        <p:txBody>
          <a:bodyPr wrap="square" lIns="0" tIns="0" rIns="0" bIns="0" rtlCol="0" anchor="t">
            <a:normAutofit/>
          </a:bodyPr>
          <a:lstStyle/>
          <a:p>
            <a:pPr algn="l" indent="0" marL="0">
              <a:lnSpc>
                <a:spcPts val="1540"/>
              </a:lnSpc>
              <a:buNone/>
            </a:pPr>
            <a:r>
              <a:rPr lang="en-US" sz="1100" b="1" spc="100" kern="0" dirty="0">
                <a:solidFill>
                  <a:srgbClr val="2B6E8C"/>
                </a:solidFill>
                <a:latin typeface="DM Sans" pitchFamily="34" charset="0"/>
                <a:ea typeface="DM Sans" pitchFamily="34" charset="-122"/>
                <a:cs typeface="DM Sans" pitchFamily="34" charset="-120"/>
              </a:rPr>
              <a:t>CÓMO SE COMPORTA</a:t>
            </a:r>
            <a:endParaRPr lang="en-US" sz="1100" dirty="0"/>
          </a:p>
        </p:txBody>
      </p:sp>
      <p:sp>
        <p:nvSpPr>
          <p:cNvPr id="11" name="Text 9"/>
          <p:cNvSpPr/>
          <p:nvPr/>
        </p:nvSpPr>
        <p:spPr>
          <a:xfrm>
            <a:off x="6362700" y="1831339"/>
            <a:ext cx="4983861"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01826"/>
                </a:solidFill>
                <a:latin typeface="DM Sans" pitchFamily="34" charset="0"/>
                <a:ea typeface="DM Sans" pitchFamily="34" charset="-122"/>
                <a:cs typeface="DM Sans" pitchFamily="34" charset="-120"/>
              </a:rPr>
              <a:t>Especificación pública · body privado</a:t>
            </a:r>
            <a:endParaRPr lang="en-US" sz="1500" dirty="0"/>
          </a:p>
        </p:txBody>
      </p:sp>
      <p:sp>
        <p:nvSpPr>
          <p:cNvPr id="12" name="Shape 10"/>
          <p:cNvSpPr/>
          <p:nvPr/>
        </p:nvSpPr>
        <p:spPr>
          <a:xfrm>
            <a:off x="812800" y="2396489"/>
            <a:ext cx="5194300" cy="1913890"/>
          </a:xfrm>
          <a:prstGeom prst="roundRect">
            <a:avLst>
              <a:gd name="adj" fmla="val 5309"/>
            </a:avLst>
          </a:prstGeom>
          <a:solidFill>
            <a:srgbClr val="FFFFFF"/>
          </a:solidFill>
          <a:ln/>
        </p:spPr>
      </p:sp>
      <p:sp>
        <p:nvSpPr>
          <p:cNvPr id="13" name="Shape 11"/>
          <p:cNvSpPr/>
          <p:nvPr/>
        </p:nvSpPr>
        <p:spPr>
          <a:xfrm>
            <a:off x="812800" y="2396489"/>
            <a:ext cx="5194300" cy="1913890"/>
          </a:xfrm>
          <a:custGeom>
            <a:avLst/>
            <a:gdLst/>
            <a:ahLst/>
            <a:cxnLst/>
            <a:rect l="l" t="t" r="r" b="b"/>
            <a:pathLst>
              <a:path w="5194300" h="1913890">
                <a:moveTo>
                  <a:pt x="101600" y="1913890"/>
                </a:moveTo>
                <a:lnTo>
                  <a:pt x="101600" y="1913890"/>
                </a:lnTo>
                <a:arcTo hR="101600" wR="101600" stAng="5400000" swAng="5400000"/>
                <a:lnTo>
                  <a:pt x="0" y="101600"/>
                </a:lnTo>
                <a:arcTo hR="101600" wR="101600" stAng="10800000" swAng="5400000"/>
                <a:lnTo>
                  <a:pt x="101600" y="0"/>
                </a:lnTo>
                <a:arcTo hR="101600" wR="50800" stAng="16200000" swAng="-5400000"/>
                <a:lnTo>
                  <a:pt x="50800" y="1812290"/>
                </a:lnTo>
                <a:arcTo hR="101600" wR="50800" stAng="10800000" swAng="-5400000"/>
                <a:close/>
              </a:path>
            </a:pathLst>
          </a:custGeom>
          <a:solidFill>
            <a:srgbClr val="E8913A"/>
          </a:solidFill>
          <a:ln/>
        </p:spPr>
      </p:sp>
      <p:sp>
        <p:nvSpPr>
          <p:cNvPr id="14" name="Text 12"/>
          <p:cNvSpPr/>
          <p:nvPr/>
        </p:nvSpPr>
        <p:spPr>
          <a:xfrm>
            <a:off x="1092200" y="2599689"/>
            <a:ext cx="482688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1826"/>
                </a:solidFill>
                <a:latin typeface="DM Sans" pitchFamily="34" charset="0"/>
                <a:ea typeface="DM Sans" pitchFamily="34" charset="-122"/>
                <a:cs typeface="DM Sans" pitchFamily="34" charset="-120"/>
              </a:rPr>
              <a:t>Especificación · público</a:t>
            </a:r>
            <a:endParaRPr lang="en-US" sz="1600" dirty="0"/>
          </a:p>
        </p:txBody>
      </p:sp>
      <p:sp>
        <p:nvSpPr>
          <p:cNvPr id="15" name="Text 13"/>
          <p:cNvSpPr/>
          <p:nvPr/>
        </p:nvSpPr>
        <p:spPr>
          <a:xfrm>
            <a:off x="1092200" y="2932432"/>
            <a:ext cx="4826889" cy="9855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A4540B"/>
                </a:solidFill>
                <a:latin typeface="DM Sans" pitchFamily="34" charset="0"/>
                <a:ea typeface="DM Sans" pitchFamily="34" charset="-122"/>
                <a:cs typeface="DM Sans" pitchFamily="34" charset="-120"/>
              </a:rPr>
              <a:t>fn_stock_producto</a:t>
            </a:r>
            <a:endParaRPr lang="en-US" sz="1400" dirty="0"/>
          </a:p>
          <a:p>
            <a:pPr algn="l" indent="0" marL="0">
              <a:lnSpc>
                <a:spcPts val="1890"/>
              </a:lnSpc>
              <a:buNone/>
            </a:pPr>
            <a:r>
              <a:rPr lang="en-US" sz="1400" dirty="0">
                <a:solidFill>
                  <a:srgbClr val="A4540B"/>
                </a:solidFill>
                <a:latin typeface="DM Sans" pitchFamily="34" charset="0"/>
                <a:ea typeface="DM Sans" pitchFamily="34" charset="-122"/>
                <a:cs typeface="DM Sans" pitchFamily="34" charset="-120"/>
              </a:rPr>
              <a:t>sp_reponer_stock</a:t>
            </a:r>
            <a:endParaRPr lang="en-US" sz="1400" dirty="0"/>
          </a:p>
          <a:p>
            <a:pPr algn="l" indent="0" marL="0">
              <a:lnSpc>
                <a:spcPts val="1890"/>
              </a:lnSpc>
              <a:buNone/>
            </a:pPr>
            <a:r>
              <a:rPr lang="en-US" sz="1400" dirty="0">
                <a:solidFill>
                  <a:srgbClr val="A4540B"/>
                </a:solidFill>
                <a:latin typeface="DM Sans" pitchFamily="34" charset="0"/>
                <a:ea typeface="DM Sans" pitchFamily="34" charset="-122"/>
                <a:cs typeface="DM Sans" pitchFamily="34" charset="-120"/>
              </a:rPr>
              <a:t>sp_resumen_cliente</a:t>
            </a:r>
            <a:endParaRPr lang="en-US" sz="1400" dirty="0"/>
          </a:p>
          <a:p>
            <a:pPr algn="l" indent="0" marL="0">
              <a:lnSpc>
                <a:spcPts val="1890"/>
              </a:lnSpc>
              <a:buNone/>
            </a:pPr>
            <a:r>
              <a:rPr lang="en-US" sz="1400" dirty="0">
                <a:solidFill>
                  <a:srgbClr val="A4540B"/>
                </a:solidFill>
                <a:latin typeface="DM Sans" pitchFamily="34" charset="0"/>
                <a:ea typeface="DM Sans" pitchFamily="34" charset="-122"/>
                <a:cs typeface="DM Sans" pitchFamily="34" charset="-120"/>
              </a:rPr>
              <a:t>sp_mostrar_criticos</a:t>
            </a:r>
            <a:endParaRPr lang="en-US" sz="1400" dirty="0"/>
          </a:p>
        </p:txBody>
      </p:sp>
      <p:sp>
        <p:nvSpPr>
          <p:cNvPr id="16" name="Shape 14"/>
          <p:cNvSpPr/>
          <p:nvPr/>
        </p:nvSpPr>
        <p:spPr>
          <a:xfrm>
            <a:off x="6184900" y="2396489"/>
            <a:ext cx="5194300" cy="1913890"/>
          </a:xfrm>
          <a:prstGeom prst="roundRect">
            <a:avLst>
              <a:gd name="adj" fmla="val 5309"/>
            </a:avLst>
          </a:prstGeom>
          <a:solidFill>
            <a:srgbClr val="FFFFFF"/>
          </a:solidFill>
          <a:ln/>
        </p:spPr>
      </p:sp>
      <p:sp>
        <p:nvSpPr>
          <p:cNvPr id="17" name="Shape 15"/>
          <p:cNvSpPr/>
          <p:nvPr/>
        </p:nvSpPr>
        <p:spPr>
          <a:xfrm>
            <a:off x="6184900" y="2396489"/>
            <a:ext cx="5194300" cy="1913890"/>
          </a:xfrm>
          <a:custGeom>
            <a:avLst/>
            <a:gdLst/>
            <a:ahLst/>
            <a:cxnLst/>
            <a:rect l="l" t="t" r="r" b="b"/>
            <a:pathLst>
              <a:path w="5194300" h="1913890">
                <a:moveTo>
                  <a:pt x="101600" y="1913890"/>
                </a:moveTo>
                <a:lnTo>
                  <a:pt x="101600" y="1913890"/>
                </a:lnTo>
                <a:arcTo hR="101600" wR="101600" stAng="5400000" swAng="5400000"/>
                <a:lnTo>
                  <a:pt x="0" y="101600"/>
                </a:lnTo>
                <a:arcTo hR="101600" wR="101600" stAng="10800000" swAng="5400000"/>
                <a:lnTo>
                  <a:pt x="101600" y="0"/>
                </a:lnTo>
                <a:arcTo hR="101600" wR="50800" stAng="16200000" swAng="-5400000"/>
                <a:lnTo>
                  <a:pt x="50800" y="1812290"/>
                </a:lnTo>
                <a:arcTo hR="101600" wR="50800" stAng="10800000" swAng="-5400000"/>
                <a:close/>
              </a:path>
            </a:pathLst>
          </a:custGeom>
          <a:solidFill>
            <a:srgbClr val="3FA35C"/>
          </a:solidFill>
          <a:ln/>
        </p:spPr>
      </p:sp>
      <p:sp>
        <p:nvSpPr>
          <p:cNvPr id="18" name="Text 16"/>
          <p:cNvSpPr/>
          <p:nvPr/>
        </p:nvSpPr>
        <p:spPr>
          <a:xfrm>
            <a:off x="6464300" y="2599689"/>
            <a:ext cx="482688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1826"/>
                </a:solidFill>
                <a:latin typeface="DM Sans" pitchFamily="34" charset="0"/>
                <a:ea typeface="DM Sans" pitchFamily="34" charset="-122"/>
                <a:cs typeface="DM Sans" pitchFamily="34" charset="-120"/>
              </a:rPr>
              <a:t>Body · privado</a:t>
            </a:r>
            <a:endParaRPr lang="en-US" sz="1600" dirty="0"/>
          </a:p>
        </p:txBody>
      </p:sp>
      <p:sp>
        <p:nvSpPr>
          <p:cNvPr id="19" name="Text 17"/>
          <p:cNvSpPr/>
          <p:nvPr/>
        </p:nvSpPr>
        <p:spPr>
          <a:xfrm>
            <a:off x="6464300" y="2932432"/>
            <a:ext cx="4826889" cy="74549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2F7D45"/>
                </a:solidFill>
                <a:latin typeface="DM Sans" pitchFamily="34" charset="0"/>
                <a:ea typeface="DM Sans" pitchFamily="34" charset="-122"/>
                <a:cs typeface="DM Sans" pitchFamily="34" charset="-120"/>
              </a:rPr>
              <a:t>sp_registrar_log</a:t>
            </a:r>
            <a:endParaRPr lang="en-US" sz="1400" dirty="0"/>
          </a:p>
          <a:p>
            <a:pPr algn="l" indent="0" marL="0">
              <a:lnSpc>
                <a:spcPts val="1890"/>
              </a:lnSpc>
              <a:buNone/>
            </a:pPr>
            <a:r>
              <a:rPr lang="en-US" sz="1400" dirty="0">
                <a:solidFill>
                  <a:srgbClr val="2F7D45"/>
                </a:solidFill>
                <a:latin typeface="DM Sans" pitchFamily="34" charset="0"/>
                <a:ea typeface="DM Sans" pitchFamily="34" charset="-122"/>
                <a:cs typeface="DM Sans" pitchFamily="34" charset="-120"/>
              </a:rPr>
              <a:t>fn_existe_producto</a:t>
            </a:r>
            <a:endParaRPr lang="en-US" sz="1400" dirty="0"/>
          </a:p>
          <a:p>
            <a:pPr algn="l" indent="0" marL="0">
              <a:lnSpc>
                <a:spcPts val="1890"/>
              </a:lnSpc>
              <a:buNone/>
            </a:pPr>
            <a:r>
              <a:rPr lang="en-US" sz="1400" dirty="0">
                <a:solidFill>
                  <a:srgbClr val="2F7D45"/>
                </a:solidFill>
                <a:latin typeface="DM Sans" pitchFamily="34" charset="0"/>
                <a:ea typeface="DM Sans" pitchFamily="34" charset="-122"/>
                <a:cs typeface="DM Sans" pitchFamily="34" charset="-120"/>
              </a:rPr>
              <a:t>c_max_reposicion</a:t>
            </a:r>
            <a:endParaRPr lang="en-US" sz="1400" dirty="0"/>
          </a:p>
        </p:txBody>
      </p:sp>
      <p:sp>
        <p:nvSpPr>
          <p:cNvPr id="20" name="Text 18"/>
          <p:cNvSpPr/>
          <p:nvPr/>
        </p:nvSpPr>
        <p:spPr>
          <a:xfrm>
            <a:off x="6464300" y="3741421"/>
            <a:ext cx="4686300" cy="365760"/>
          </a:xfrm>
          <a:prstGeom prst="roundRect">
            <a:avLst>
              <a:gd name="adj" fmla="val 17361"/>
            </a:avLst>
          </a:prstGeom>
          <a:solidFill>
            <a:srgbClr val="101826"/>
          </a:solidFill>
          <a:ln/>
        </p:spPr>
        <p:txBody>
          <a:bodyPr wrap="square" lIns="108401" tIns="57601" rIns="0" bIns="32201" rtlCol="0" anchor="t">
            <a:normAutofit/>
          </a:bodyPr>
          <a:lstStyle/>
          <a:p>
            <a:pPr algn="l" indent="0" marL="0">
              <a:lnSpc>
                <a:spcPts val="1680"/>
              </a:lnSpc>
              <a:buNone/>
            </a:pPr>
            <a:r>
              <a:rPr lang="en-US" sz="1200" dirty="0">
                <a:solidFill>
                  <a:srgbClr val="F6F4EE"/>
                </a:solidFill>
                <a:latin typeface="JetBrains Mono" pitchFamily="49" charset="0"/>
                <a:ea typeface="JetBrains Mono" pitchFamily="49" charset="-122"/>
                <a:cs typeface="JetBrains Mono" pitchFamily="49" charset="-120"/>
              </a:rPr>
              <a:t>Privado desde fuera → PLS-00302</a:t>
            </a:r>
            <a:endParaRPr lang="en-US" sz="1200" dirty="0"/>
          </a:p>
        </p:txBody>
      </p:sp>
      <p:sp>
        <p:nvSpPr>
          <p:cNvPr id="21" name="Text 19"/>
          <p:cNvSpPr/>
          <p:nvPr/>
        </p:nvSpPr>
        <p:spPr>
          <a:xfrm>
            <a:off x="812800" y="4513582"/>
            <a:ext cx="10566400" cy="561975"/>
          </a:xfrm>
          <a:prstGeom prst="roundRect">
            <a:avLst>
              <a:gd name="adj" fmla="val 18079"/>
            </a:avLst>
          </a:prstGeom>
          <a:solidFill>
            <a:srgbClr val="101826"/>
          </a:solidFill>
          <a:ln/>
        </p:spPr>
        <p:txBody>
          <a:bodyPr wrap="square" lIns="173442" tIns="122642" rIns="0" bIns="97242" rtlCol="0" anchor="t">
            <a:normAutofit/>
          </a:bodyPr>
          <a:lstStyle/>
          <a:p>
            <a:pPr algn="l" indent="0" marL="0">
              <a:lnSpc>
                <a:spcPts val="2025"/>
              </a:lnSpc>
              <a:buNone/>
            </a:pPr>
            <a:r>
              <a:rPr lang="en-US" sz="1500" b="1" dirty="0">
                <a:solidFill>
                  <a:srgbClr val="F0A35C"/>
                </a:solidFill>
                <a:latin typeface="DM Sans" pitchFamily="34" charset="0"/>
                <a:ea typeface="DM Sans" pitchFamily="34" charset="-122"/>
                <a:cs typeface="DM Sans" pitchFamily="34" charset="-120"/>
              </a:rPr>
              <a:t>¿Por qué privado?</a:t>
            </a:r>
            <a:r>
              <a:rPr lang="en-US" sz="1500" dirty="0">
                <a:solidFill>
                  <a:srgbClr val="F6F4EE"/>
                </a:solidFill>
                <a:latin typeface="DM Sans" pitchFamily="34" charset="0"/>
                <a:ea typeface="DM Sans" pitchFamily="34" charset="-122"/>
                <a:cs typeface="DM Sans" pitchFamily="34" charset="-120"/>
              </a:rPr>
              <a:t> Lo interno cambia sin afectar a quien usa el package.</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558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A4540B"/>
                </a:solidFill>
                <a:latin typeface="DM Sans" pitchFamily="34" charset="0"/>
                <a:ea typeface="DM Sans" pitchFamily="34" charset="-122"/>
                <a:cs typeface="DM Sans" pitchFamily="34" charset="-120"/>
              </a:rPr>
              <a:t>TRIGGERS · IE2.3.2</a:t>
            </a:r>
            <a:endParaRPr lang="en-US" sz="1300" dirty="0"/>
          </a:p>
        </p:txBody>
      </p:sp>
      <p:sp>
        <p:nvSpPr>
          <p:cNvPr id="3" name="Text 1"/>
          <p:cNvSpPr/>
          <p:nvPr>
            <p:ph type="title"/>
          </p:nvPr>
        </p:nvSpPr>
        <p:spPr>
          <a:xfrm>
            <a:off x="812800" y="853439"/>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01826"/>
                </a:solidFill>
                <a:latin typeface="DM Sans" pitchFamily="34" charset="0"/>
                <a:ea typeface="DM Sans" pitchFamily="34" charset="-122"/>
                <a:cs typeface="DM Sans" pitchFamily="34" charset="-120"/>
              </a:rPr>
              <a:t>Reglas que se cumplen solas</a:t>
            </a:r>
            <a:endParaRPr lang="en-US" sz="2800" dirty="0"/>
          </a:p>
        </p:txBody>
      </p:sp>
      <p:sp>
        <p:nvSpPr>
          <p:cNvPr id="4" name="Shape 2"/>
          <p:cNvSpPr/>
          <p:nvPr/>
        </p:nvSpPr>
        <p:spPr>
          <a:xfrm>
            <a:off x="812800" y="1447800"/>
            <a:ext cx="5194300" cy="745490"/>
          </a:xfrm>
          <a:prstGeom prst="roundRect">
            <a:avLst>
              <a:gd name="adj" fmla="val 11925"/>
            </a:avLst>
          </a:prstGeom>
          <a:solidFill>
            <a:srgbClr val="FFFFFF"/>
          </a:solidFill>
          <a:ln/>
        </p:spPr>
      </p:sp>
      <p:sp>
        <p:nvSpPr>
          <p:cNvPr id="5" name="Shape 3"/>
          <p:cNvSpPr/>
          <p:nvPr/>
        </p:nvSpPr>
        <p:spPr>
          <a:xfrm>
            <a:off x="812800" y="1447800"/>
            <a:ext cx="5194300" cy="745490"/>
          </a:xfrm>
          <a:custGeom>
            <a:avLst/>
            <a:gdLst/>
            <a:ahLst/>
            <a:cxnLst/>
            <a:rect l="l" t="t" r="r" b="b"/>
            <a:pathLst>
              <a:path w="5194300" h="745490">
                <a:moveTo>
                  <a:pt x="0" y="88900"/>
                </a:moveTo>
                <a:lnTo>
                  <a:pt x="0" y="88900"/>
                </a:lnTo>
                <a:arcTo hR="88900" wR="88900" stAng="10800000" swAng="5400000"/>
                <a:lnTo>
                  <a:pt x="5105400" y="0"/>
                </a:lnTo>
                <a:arcTo hR="88900" wR="88900" stAng="16200000" swAng="5400000"/>
                <a:lnTo>
                  <a:pt x="5194300" y="88900"/>
                </a:lnTo>
                <a:arcTo hR="50800" wR="88900" stAng="0" swAng="-5400000"/>
                <a:lnTo>
                  <a:pt x="88900" y="38100"/>
                </a:lnTo>
                <a:arcTo hR="50800" wR="88900" stAng="16200000" swAng="-5400000"/>
                <a:close/>
              </a:path>
            </a:pathLst>
          </a:custGeom>
          <a:solidFill>
            <a:srgbClr val="E8913A"/>
          </a:solidFill>
          <a:ln/>
        </p:spPr>
      </p:sp>
      <p:sp>
        <p:nvSpPr>
          <p:cNvPr id="6" name="Text 4"/>
          <p:cNvSpPr/>
          <p:nvPr/>
        </p:nvSpPr>
        <p:spPr>
          <a:xfrm>
            <a:off x="990600" y="1597661"/>
            <a:ext cx="4983861" cy="220980"/>
          </a:xfrm>
          <a:prstGeom prst="rect">
            <a:avLst/>
          </a:prstGeom>
          <a:noFill/>
          <a:ln/>
        </p:spPr>
        <p:txBody>
          <a:bodyPr wrap="square" lIns="0" tIns="0" rIns="0" bIns="0" rtlCol="0" anchor="t">
            <a:normAutofit/>
          </a:bodyPr>
          <a:lstStyle/>
          <a:p>
            <a:pPr algn="l" indent="0" marL="0">
              <a:lnSpc>
                <a:spcPts val="1540"/>
              </a:lnSpc>
              <a:buNone/>
            </a:pPr>
            <a:r>
              <a:rPr lang="en-US" sz="1100" b="1" spc="100" kern="0" dirty="0">
                <a:solidFill>
                  <a:srgbClr val="A4540B"/>
                </a:solidFill>
                <a:latin typeface="DM Sans" pitchFamily="34" charset="0"/>
                <a:ea typeface="DM Sans" pitchFamily="34" charset="-122"/>
                <a:cs typeface="DM Sans" pitchFamily="34" charset="-120"/>
              </a:rPr>
              <a:t>QUÉ ES</a:t>
            </a:r>
            <a:endParaRPr lang="en-US" sz="1100" dirty="0"/>
          </a:p>
        </p:txBody>
      </p:sp>
      <p:sp>
        <p:nvSpPr>
          <p:cNvPr id="7" name="Text 5"/>
          <p:cNvSpPr/>
          <p:nvPr/>
        </p:nvSpPr>
        <p:spPr>
          <a:xfrm>
            <a:off x="990600" y="1831339"/>
            <a:ext cx="4983861"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01826"/>
                </a:solidFill>
                <a:latin typeface="DM Sans" pitchFamily="34" charset="0"/>
                <a:ea typeface="DM Sans" pitchFamily="34" charset="-122"/>
                <a:cs typeface="DM Sans" pitchFamily="34" charset="-120"/>
              </a:rPr>
              <a:t>Se dispara solo ante un cambio</a:t>
            </a:r>
            <a:endParaRPr lang="en-US" sz="1500" dirty="0"/>
          </a:p>
        </p:txBody>
      </p:sp>
      <p:sp>
        <p:nvSpPr>
          <p:cNvPr id="8" name="Shape 6"/>
          <p:cNvSpPr/>
          <p:nvPr/>
        </p:nvSpPr>
        <p:spPr>
          <a:xfrm>
            <a:off x="6184900" y="1447800"/>
            <a:ext cx="5194300" cy="745490"/>
          </a:xfrm>
          <a:prstGeom prst="roundRect">
            <a:avLst>
              <a:gd name="adj" fmla="val 11925"/>
            </a:avLst>
          </a:prstGeom>
          <a:solidFill>
            <a:srgbClr val="FFFFFF"/>
          </a:solidFill>
          <a:ln/>
        </p:spPr>
      </p:sp>
      <p:sp>
        <p:nvSpPr>
          <p:cNvPr id="9" name="Shape 7"/>
          <p:cNvSpPr/>
          <p:nvPr/>
        </p:nvSpPr>
        <p:spPr>
          <a:xfrm>
            <a:off x="6184900" y="1447800"/>
            <a:ext cx="5194300" cy="745490"/>
          </a:xfrm>
          <a:custGeom>
            <a:avLst/>
            <a:gdLst/>
            <a:ahLst/>
            <a:cxnLst/>
            <a:rect l="l" t="t" r="r" b="b"/>
            <a:pathLst>
              <a:path w="5194300" h="745490">
                <a:moveTo>
                  <a:pt x="0" y="88900"/>
                </a:moveTo>
                <a:lnTo>
                  <a:pt x="0" y="88900"/>
                </a:lnTo>
                <a:arcTo hR="88900" wR="88900" stAng="10800000" swAng="5400000"/>
                <a:lnTo>
                  <a:pt x="5105400" y="0"/>
                </a:lnTo>
                <a:arcTo hR="88900" wR="88900" stAng="16200000" swAng="5400000"/>
                <a:lnTo>
                  <a:pt x="5194300" y="88900"/>
                </a:lnTo>
                <a:arcTo hR="50800" wR="88900" stAng="0" swAng="-5400000"/>
                <a:lnTo>
                  <a:pt x="88900" y="38100"/>
                </a:lnTo>
                <a:arcTo hR="50800" wR="88900" stAng="16200000" swAng="-5400000"/>
                <a:close/>
              </a:path>
            </a:pathLst>
          </a:custGeom>
          <a:solidFill>
            <a:srgbClr val="2B8CBE"/>
          </a:solidFill>
          <a:ln/>
        </p:spPr>
      </p:sp>
      <p:sp>
        <p:nvSpPr>
          <p:cNvPr id="10" name="Text 8"/>
          <p:cNvSpPr/>
          <p:nvPr/>
        </p:nvSpPr>
        <p:spPr>
          <a:xfrm>
            <a:off x="6362700" y="1597661"/>
            <a:ext cx="4983861" cy="220980"/>
          </a:xfrm>
          <a:prstGeom prst="rect">
            <a:avLst/>
          </a:prstGeom>
          <a:noFill/>
          <a:ln/>
        </p:spPr>
        <p:txBody>
          <a:bodyPr wrap="square" lIns="0" tIns="0" rIns="0" bIns="0" rtlCol="0" anchor="t">
            <a:normAutofit/>
          </a:bodyPr>
          <a:lstStyle/>
          <a:p>
            <a:pPr algn="l" indent="0" marL="0">
              <a:lnSpc>
                <a:spcPts val="1540"/>
              </a:lnSpc>
              <a:buNone/>
            </a:pPr>
            <a:r>
              <a:rPr lang="en-US" sz="1100" b="1" spc="100" kern="0" dirty="0">
                <a:solidFill>
                  <a:srgbClr val="2B6E8C"/>
                </a:solidFill>
                <a:latin typeface="DM Sans" pitchFamily="34" charset="0"/>
                <a:ea typeface="DM Sans" pitchFamily="34" charset="-122"/>
                <a:cs typeface="DM Sans" pitchFamily="34" charset="-120"/>
              </a:rPr>
              <a:t>CÓMO SE COMPORTA</a:t>
            </a:r>
            <a:endParaRPr lang="en-US" sz="1100" dirty="0"/>
          </a:p>
        </p:txBody>
      </p:sp>
      <p:sp>
        <p:nvSpPr>
          <p:cNvPr id="11" name="Text 9"/>
          <p:cNvSpPr/>
          <p:nvPr/>
        </p:nvSpPr>
        <p:spPr>
          <a:xfrm>
            <a:off x="6362700" y="1831339"/>
            <a:ext cx="4983861"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01826"/>
                </a:solidFill>
                <a:latin typeface="DM Sans" pitchFamily="34" charset="0"/>
                <a:ea typeface="DM Sans" pitchFamily="34" charset="-122"/>
                <a:cs typeface="DM Sans" pitchFamily="34" charset="-120"/>
              </a:rPr>
              <a:t>Fila: por fila · Sentencia: por operación</a:t>
            </a:r>
            <a:endParaRPr lang="en-US" sz="1500" dirty="0"/>
          </a:p>
        </p:txBody>
      </p:sp>
      <p:sp>
        <p:nvSpPr>
          <p:cNvPr id="12" name="Shape 10"/>
          <p:cNvSpPr/>
          <p:nvPr/>
        </p:nvSpPr>
        <p:spPr>
          <a:xfrm>
            <a:off x="812800" y="2396489"/>
            <a:ext cx="5194300" cy="2049780"/>
          </a:xfrm>
          <a:prstGeom prst="roundRect">
            <a:avLst>
              <a:gd name="adj" fmla="val 4957"/>
            </a:avLst>
          </a:prstGeom>
          <a:solidFill>
            <a:srgbClr val="FFFFFF"/>
          </a:solidFill>
          <a:ln/>
        </p:spPr>
      </p:sp>
      <p:sp>
        <p:nvSpPr>
          <p:cNvPr id="13" name="Shape 11"/>
          <p:cNvSpPr/>
          <p:nvPr/>
        </p:nvSpPr>
        <p:spPr>
          <a:xfrm>
            <a:off x="812800" y="2396489"/>
            <a:ext cx="5194300" cy="2049780"/>
          </a:xfrm>
          <a:custGeom>
            <a:avLst/>
            <a:gdLst/>
            <a:ahLst/>
            <a:cxnLst/>
            <a:rect l="l" t="t" r="r" b="b"/>
            <a:pathLst>
              <a:path w="5194300" h="2049780">
                <a:moveTo>
                  <a:pt x="101600" y="2049780"/>
                </a:moveTo>
                <a:lnTo>
                  <a:pt x="101600" y="2049780"/>
                </a:lnTo>
                <a:arcTo hR="101600" wR="101600" stAng="5400000" swAng="5400000"/>
                <a:lnTo>
                  <a:pt x="0" y="101600"/>
                </a:lnTo>
                <a:arcTo hR="101600" wR="101600" stAng="10800000" swAng="5400000"/>
                <a:lnTo>
                  <a:pt x="101600" y="0"/>
                </a:lnTo>
                <a:arcTo hR="101600" wR="50800" stAng="16200000" swAng="-5400000"/>
                <a:lnTo>
                  <a:pt x="50800" y="1948180"/>
                </a:lnTo>
                <a:arcTo hR="101600" wR="50800" stAng="10800000" swAng="-5400000"/>
                <a:close/>
              </a:path>
            </a:pathLst>
          </a:custGeom>
          <a:solidFill>
            <a:srgbClr val="E8913A"/>
          </a:solidFill>
          <a:ln/>
        </p:spPr>
      </p:sp>
      <p:sp>
        <p:nvSpPr>
          <p:cNvPr id="14" name="Text 12"/>
          <p:cNvSpPr/>
          <p:nvPr/>
        </p:nvSpPr>
        <p:spPr>
          <a:xfrm>
            <a:off x="1092200" y="2599689"/>
            <a:ext cx="482688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01826"/>
                </a:solidFill>
                <a:latin typeface="JetBrains Mono" pitchFamily="49" charset="0"/>
                <a:ea typeface="JetBrains Mono" pitchFamily="49" charset="-122"/>
                <a:cs typeface="JetBrains Mono" pitchFamily="49" charset="-120"/>
              </a:rPr>
              <a:t>TRG_DESCUENTA_STOCK</a:t>
            </a:r>
            <a:endParaRPr lang="en-US" sz="1500" dirty="0"/>
          </a:p>
        </p:txBody>
      </p:sp>
      <p:sp>
        <p:nvSpPr>
          <p:cNvPr id="15" name="Text 13"/>
          <p:cNvSpPr/>
          <p:nvPr/>
        </p:nvSpPr>
        <p:spPr>
          <a:xfrm>
            <a:off x="1092200" y="2917189"/>
            <a:ext cx="4826889"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4540B"/>
                </a:solidFill>
                <a:latin typeface="DM Sans" pitchFamily="34" charset="0"/>
                <a:ea typeface="DM Sans" pitchFamily="34" charset="-122"/>
                <a:cs typeface="DM Sans" pitchFamily="34" charset="-120"/>
              </a:rPr>
              <a:t>De fila · BEFORE INSERT</a:t>
            </a:r>
            <a:endParaRPr lang="en-US" sz="1200" dirty="0"/>
          </a:p>
        </p:txBody>
      </p:sp>
      <p:sp>
        <p:nvSpPr>
          <p:cNvPr id="16" name="Text 14"/>
          <p:cNvSpPr/>
          <p:nvPr/>
        </p:nvSpPr>
        <p:spPr>
          <a:xfrm>
            <a:off x="1092200" y="3219450"/>
            <a:ext cx="4826889" cy="26543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01826"/>
                </a:solidFill>
                <a:latin typeface="DM Sans" pitchFamily="34" charset="0"/>
                <a:ea typeface="DM Sans" pitchFamily="34" charset="-122"/>
                <a:cs typeface="DM Sans" pitchFamily="34" charset="-120"/>
              </a:rPr>
              <a:t>Regla:</a:t>
            </a:r>
            <a:r>
              <a:rPr lang="en-US" sz="1400" dirty="0">
                <a:solidFill>
                  <a:srgbClr val="3B4452"/>
                </a:solidFill>
                <a:latin typeface="DM Sans" pitchFamily="34" charset="0"/>
                <a:ea typeface="DM Sans" pitchFamily="34" charset="-122"/>
                <a:cs typeface="DM Sans" pitchFamily="34" charset="-120"/>
              </a:rPr>
              <a:t> no vender sin stock</a:t>
            </a:r>
            <a:endParaRPr lang="en-US" sz="1400" dirty="0"/>
          </a:p>
        </p:txBody>
      </p:sp>
      <p:sp>
        <p:nvSpPr>
          <p:cNvPr id="17" name="Text 15"/>
          <p:cNvSpPr/>
          <p:nvPr/>
        </p:nvSpPr>
        <p:spPr>
          <a:xfrm>
            <a:off x="1092200" y="3548382"/>
            <a:ext cx="4826889" cy="26543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01826"/>
                </a:solidFill>
                <a:latin typeface="DM Sans" pitchFamily="34" charset="0"/>
                <a:ea typeface="DM Sans" pitchFamily="34" charset="-122"/>
                <a:cs typeface="DM Sans" pitchFamily="34" charset="-120"/>
              </a:rPr>
              <a:t>Qué hace:</a:t>
            </a:r>
            <a:r>
              <a:rPr lang="en-US" sz="1400" dirty="0">
                <a:solidFill>
                  <a:srgbClr val="3B4452"/>
                </a:solidFill>
                <a:latin typeface="DM Sans" pitchFamily="34" charset="0"/>
                <a:ea typeface="DM Sans" pitchFamily="34" charset="-122"/>
                <a:cs typeface="DM Sans" pitchFamily="34" charset="-120"/>
              </a:rPr>
              <a:t> revisa y descuenta cada línea</a:t>
            </a:r>
            <a:endParaRPr lang="en-US" sz="1400" dirty="0"/>
          </a:p>
        </p:txBody>
      </p:sp>
      <p:sp>
        <p:nvSpPr>
          <p:cNvPr id="18" name="Text 16"/>
          <p:cNvSpPr/>
          <p:nvPr/>
        </p:nvSpPr>
        <p:spPr>
          <a:xfrm>
            <a:off x="1092200" y="3877311"/>
            <a:ext cx="4686300" cy="365760"/>
          </a:xfrm>
          <a:prstGeom prst="roundRect">
            <a:avLst>
              <a:gd name="adj" fmla="val 17361"/>
            </a:avLst>
          </a:prstGeom>
          <a:solidFill>
            <a:srgbClr val="101826"/>
          </a:solidFill>
          <a:ln/>
        </p:spPr>
        <p:txBody>
          <a:bodyPr wrap="square" lIns="108401" tIns="57601" rIns="0" bIns="32201" rtlCol="0" anchor="t">
            <a:normAutofit/>
          </a:bodyPr>
          <a:lstStyle/>
          <a:p>
            <a:pPr algn="l" indent="0" marL="0">
              <a:lnSpc>
                <a:spcPts val="1680"/>
              </a:lnSpc>
              <a:buNone/>
            </a:pPr>
            <a:r>
              <a:rPr lang="en-US" sz="1200" dirty="0">
                <a:solidFill>
                  <a:srgbClr val="F6F4EE"/>
                </a:solidFill>
                <a:latin typeface="JetBrains Mono" pitchFamily="49" charset="0"/>
                <a:ea typeface="JetBrains Mono" pitchFamily="49" charset="-122"/>
                <a:cs typeface="JetBrains Mono" pitchFamily="49" charset="-120"/>
              </a:rPr>
              <a:t>AC002: 20 → 18 · GE002 → -20001</a:t>
            </a:r>
            <a:endParaRPr lang="en-US" sz="1200" dirty="0"/>
          </a:p>
        </p:txBody>
      </p:sp>
      <p:sp>
        <p:nvSpPr>
          <p:cNvPr id="19" name="Shape 17"/>
          <p:cNvSpPr/>
          <p:nvPr/>
        </p:nvSpPr>
        <p:spPr>
          <a:xfrm>
            <a:off x="6184900" y="2396489"/>
            <a:ext cx="5194300" cy="2049780"/>
          </a:xfrm>
          <a:prstGeom prst="roundRect">
            <a:avLst>
              <a:gd name="adj" fmla="val 4957"/>
            </a:avLst>
          </a:prstGeom>
          <a:solidFill>
            <a:srgbClr val="FFFFFF"/>
          </a:solidFill>
          <a:ln/>
        </p:spPr>
      </p:sp>
      <p:sp>
        <p:nvSpPr>
          <p:cNvPr id="20" name="Shape 18"/>
          <p:cNvSpPr/>
          <p:nvPr/>
        </p:nvSpPr>
        <p:spPr>
          <a:xfrm>
            <a:off x="6184900" y="2396489"/>
            <a:ext cx="5194300" cy="2049780"/>
          </a:xfrm>
          <a:custGeom>
            <a:avLst/>
            <a:gdLst/>
            <a:ahLst/>
            <a:cxnLst/>
            <a:rect l="l" t="t" r="r" b="b"/>
            <a:pathLst>
              <a:path w="5194300" h="2049780">
                <a:moveTo>
                  <a:pt x="101600" y="2049780"/>
                </a:moveTo>
                <a:lnTo>
                  <a:pt x="101600" y="2049780"/>
                </a:lnTo>
                <a:arcTo hR="101600" wR="101600" stAng="5400000" swAng="5400000"/>
                <a:lnTo>
                  <a:pt x="0" y="101600"/>
                </a:lnTo>
                <a:arcTo hR="101600" wR="101600" stAng="10800000" swAng="5400000"/>
                <a:lnTo>
                  <a:pt x="101600" y="0"/>
                </a:lnTo>
                <a:arcTo hR="101600" wR="50800" stAng="16200000" swAng="-5400000"/>
                <a:lnTo>
                  <a:pt x="50800" y="1948180"/>
                </a:lnTo>
                <a:arcTo hR="101600" wR="50800" stAng="10800000" swAng="-5400000"/>
                <a:close/>
              </a:path>
            </a:pathLst>
          </a:custGeom>
          <a:solidFill>
            <a:srgbClr val="2B8CBE"/>
          </a:solidFill>
          <a:ln/>
        </p:spPr>
      </p:sp>
      <p:sp>
        <p:nvSpPr>
          <p:cNvPr id="21" name="Text 19"/>
          <p:cNvSpPr/>
          <p:nvPr/>
        </p:nvSpPr>
        <p:spPr>
          <a:xfrm>
            <a:off x="6464300" y="2599689"/>
            <a:ext cx="482688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01826"/>
                </a:solidFill>
                <a:latin typeface="JetBrains Mono" pitchFamily="49" charset="0"/>
                <a:ea typeface="JetBrains Mono" pitchFamily="49" charset="-122"/>
                <a:cs typeface="JetBrains Mono" pitchFamily="49" charset="-120"/>
              </a:rPr>
              <a:t>TRG_AUDITA_VENTA</a:t>
            </a:r>
            <a:endParaRPr lang="en-US" sz="1500" dirty="0"/>
          </a:p>
        </p:txBody>
      </p:sp>
      <p:sp>
        <p:nvSpPr>
          <p:cNvPr id="22" name="Text 20"/>
          <p:cNvSpPr/>
          <p:nvPr/>
        </p:nvSpPr>
        <p:spPr>
          <a:xfrm>
            <a:off x="6464300" y="2917189"/>
            <a:ext cx="4826889"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4540B"/>
                </a:solidFill>
                <a:latin typeface="DM Sans" pitchFamily="34" charset="0"/>
                <a:ea typeface="DM Sans" pitchFamily="34" charset="-122"/>
                <a:cs typeface="DM Sans" pitchFamily="34" charset="-120"/>
              </a:rPr>
              <a:t>De sentencia · AFTER sobre VENTA</a:t>
            </a:r>
            <a:endParaRPr lang="en-US" sz="1200" dirty="0"/>
          </a:p>
        </p:txBody>
      </p:sp>
      <p:sp>
        <p:nvSpPr>
          <p:cNvPr id="23" name="Text 21"/>
          <p:cNvSpPr/>
          <p:nvPr/>
        </p:nvSpPr>
        <p:spPr>
          <a:xfrm>
            <a:off x="6464300" y="3219450"/>
            <a:ext cx="4826889" cy="26543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01826"/>
                </a:solidFill>
                <a:latin typeface="DM Sans" pitchFamily="34" charset="0"/>
                <a:ea typeface="DM Sans" pitchFamily="34" charset="-122"/>
                <a:cs typeface="DM Sans" pitchFamily="34" charset="-120"/>
              </a:rPr>
              <a:t>Regla:</a:t>
            </a:r>
            <a:r>
              <a:rPr lang="en-US" sz="1400" dirty="0">
                <a:solidFill>
                  <a:srgbClr val="3B4452"/>
                </a:solidFill>
                <a:latin typeface="DM Sans" pitchFamily="34" charset="0"/>
                <a:ea typeface="DM Sans" pitchFamily="34" charset="-122"/>
                <a:cs typeface="DM Sans" pitchFamily="34" charset="-120"/>
              </a:rPr>
              <a:t> registro de cada venta</a:t>
            </a:r>
            <a:endParaRPr lang="en-US" sz="1400" dirty="0"/>
          </a:p>
        </p:txBody>
      </p:sp>
      <p:sp>
        <p:nvSpPr>
          <p:cNvPr id="24" name="Text 22"/>
          <p:cNvSpPr/>
          <p:nvPr/>
        </p:nvSpPr>
        <p:spPr>
          <a:xfrm>
            <a:off x="6464300" y="3548382"/>
            <a:ext cx="4826889" cy="26543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01826"/>
                </a:solidFill>
                <a:latin typeface="DM Sans" pitchFamily="34" charset="0"/>
                <a:ea typeface="DM Sans" pitchFamily="34" charset="-122"/>
                <a:cs typeface="DM Sans" pitchFamily="34" charset="-120"/>
              </a:rPr>
              <a:t>Qué hace:</a:t>
            </a:r>
            <a:r>
              <a:rPr lang="en-US" sz="1400" dirty="0">
                <a:solidFill>
                  <a:srgbClr val="3B4452"/>
                </a:solidFill>
                <a:latin typeface="DM Sans" pitchFamily="34" charset="0"/>
                <a:ea typeface="DM Sans" pitchFamily="34" charset="-122"/>
                <a:cs typeface="DM Sans" pitchFamily="34" charset="-120"/>
              </a:rPr>
              <a:t> anota cada operación</a:t>
            </a:r>
            <a:endParaRPr lang="en-US" sz="1400" dirty="0"/>
          </a:p>
        </p:txBody>
      </p:sp>
      <p:sp>
        <p:nvSpPr>
          <p:cNvPr id="25" name="Text 23"/>
          <p:cNvSpPr/>
          <p:nvPr/>
        </p:nvSpPr>
        <p:spPr>
          <a:xfrm>
            <a:off x="6464300" y="3877311"/>
            <a:ext cx="4686300" cy="365760"/>
          </a:xfrm>
          <a:prstGeom prst="roundRect">
            <a:avLst>
              <a:gd name="adj" fmla="val 17361"/>
            </a:avLst>
          </a:prstGeom>
          <a:solidFill>
            <a:srgbClr val="101826"/>
          </a:solidFill>
          <a:ln/>
        </p:spPr>
        <p:txBody>
          <a:bodyPr wrap="square" lIns="108401" tIns="57601" rIns="0" bIns="32201" rtlCol="0" anchor="t">
            <a:normAutofit/>
          </a:bodyPr>
          <a:lstStyle/>
          <a:p>
            <a:pPr algn="l" indent="0" marL="0">
              <a:lnSpc>
                <a:spcPts val="1680"/>
              </a:lnSpc>
              <a:buNone/>
            </a:pPr>
            <a:r>
              <a:rPr lang="en-US" sz="1200" dirty="0">
                <a:solidFill>
                  <a:srgbClr val="F6F4EE"/>
                </a:solidFill>
                <a:latin typeface="JetBrains Mono" pitchFamily="49" charset="0"/>
                <a:ea typeface="JetBrains Mono" pitchFamily="49" charset="-122"/>
                <a:cs typeface="JetBrains Mono" pitchFamily="49" charset="-120"/>
              </a:rPr>
              <a:t>1 fila en AUDITORIA_OPERACION</a:t>
            </a:r>
            <a:endParaRPr lang="en-US" sz="1200" dirty="0"/>
          </a:p>
        </p:txBody>
      </p:sp>
      <p:sp>
        <p:nvSpPr>
          <p:cNvPr id="26" name="Text 24"/>
          <p:cNvSpPr/>
          <p:nvPr/>
        </p:nvSpPr>
        <p:spPr>
          <a:xfrm>
            <a:off x="812800" y="4649471"/>
            <a:ext cx="10566400" cy="561975"/>
          </a:xfrm>
          <a:prstGeom prst="roundRect">
            <a:avLst>
              <a:gd name="adj" fmla="val 18079"/>
            </a:avLst>
          </a:prstGeom>
          <a:solidFill>
            <a:srgbClr val="101826"/>
          </a:solidFill>
          <a:ln/>
        </p:spPr>
        <p:txBody>
          <a:bodyPr wrap="square" lIns="173442" tIns="122642" rIns="0" bIns="97242" rtlCol="0" anchor="t">
            <a:normAutofit/>
          </a:bodyPr>
          <a:lstStyle/>
          <a:p>
            <a:pPr algn="l" indent="0" marL="0">
              <a:lnSpc>
                <a:spcPts val="2025"/>
              </a:lnSpc>
              <a:buNone/>
            </a:pPr>
            <a:r>
              <a:rPr lang="en-US" sz="1500" b="1" dirty="0">
                <a:solidFill>
                  <a:srgbClr val="F0A35C"/>
                </a:solidFill>
                <a:latin typeface="DM Sans" pitchFamily="34" charset="0"/>
                <a:ea typeface="DM Sans" pitchFamily="34" charset="-122"/>
                <a:cs typeface="DM Sans" pitchFamily="34" charset="-120"/>
              </a:rPr>
              <a:t>¿Por qué trigger?</a:t>
            </a:r>
            <a:r>
              <a:rPr lang="en-US" sz="1500" dirty="0">
                <a:solidFill>
                  <a:srgbClr val="F6F4EE"/>
                </a:solidFill>
                <a:latin typeface="DM Sans" pitchFamily="34" charset="0"/>
                <a:ea typeface="DM Sans" pitchFamily="34" charset="-122"/>
                <a:cs typeface="DM Sans" pitchFamily="34" charset="-120"/>
              </a:rPr>
              <a:t> Protege la tabla venga de donde venga el cambio.</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01826"/>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F0A35C"/>
                </a:solidFill>
                <a:latin typeface="DM Sans" pitchFamily="34" charset="0"/>
                <a:ea typeface="DM Sans" pitchFamily="34" charset="-122"/>
                <a:cs typeface="DM Sans" pitchFamily="34" charset="-120"/>
              </a:rPr>
              <a:t>CONCLUSIÓN</a:t>
            </a:r>
            <a:endParaRPr lang="en-US" sz="1400" dirty="0"/>
          </a:p>
        </p:txBody>
      </p:sp>
      <p:sp>
        <p:nvSpPr>
          <p:cNvPr id="3" name="Text 1"/>
          <p:cNvSpPr/>
          <p:nvPr>
            <p:ph type="title"/>
          </p:nvPr>
        </p:nvSpPr>
        <p:spPr>
          <a:xfrm>
            <a:off x="812800" y="116332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6F4EE"/>
                </a:solidFill>
                <a:latin typeface="DM Sans" pitchFamily="34" charset="0"/>
                <a:ea typeface="DM Sans" pitchFamily="34" charset="-122"/>
                <a:cs typeface="DM Sans" pitchFamily="34" charset="-120"/>
              </a:rPr>
              <a:t>La lógica ahora vive en la base de datos</a:t>
            </a:r>
            <a:endParaRPr lang="en-US" sz="3200" dirty="0"/>
          </a:p>
        </p:txBody>
      </p:sp>
      <p:sp>
        <p:nvSpPr>
          <p:cNvPr id="4" name="Text 2"/>
          <p:cNvSpPr/>
          <p:nvPr/>
        </p:nvSpPr>
        <p:spPr>
          <a:xfrm>
            <a:off x="812800" y="1915164"/>
            <a:ext cx="457200" cy="52324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F0A35C"/>
                </a:solidFill>
                <a:latin typeface="DM Sans" pitchFamily="34" charset="0"/>
                <a:ea typeface="DM Sans" pitchFamily="34" charset="-122"/>
                <a:cs typeface="DM Sans" pitchFamily="34" charset="-120"/>
              </a:rPr>
              <a:t>1</a:t>
            </a:r>
            <a:endParaRPr lang="en-US" sz="2800" dirty="0"/>
          </a:p>
        </p:txBody>
      </p:sp>
      <p:sp>
        <p:nvSpPr>
          <p:cNvPr id="5" name="Text 3"/>
          <p:cNvSpPr/>
          <p:nvPr/>
        </p:nvSpPr>
        <p:spPr>
          <a:xfrm>
            <a:off x="1422400" y="2007239"/>
            <a:ext cx="7250621" cy="339090"/>
          </a:xfrm>
          <a:prstGeom prst="rect">
            <a:avLst/>
          </a:prstGeom>
          <a:noFill/>
          <a:ln/>
        </p:spPr>
        <p:txBody>
          <a:bodyPr wrap="square" lIns="0" tIns="0" rIns="0" bIns="0" rtlCol="0" anchor="t">
            <a:normAutofit/>
          </a:bodyPr>
          <a:lstStyle/>
          <a:p>
            <a:pPr algn="l" indent="0" marL="0">
              <a:lnSpc>
                <a:spcPts val="2470"/>
              </a:lnSpc>
              <a:buNone/>
            </a:pPr>
            <a:r>
              <a:rPr lang="en-US" sz="1900" dirty="0">
                <a:solidFill>
                  <a:srgbClr val="F6F4EE"/>
                </a:solidFill>
                <a:latin typeface="DM Sans" pitchFamily="34" charset="0"/>
                <a:ea typeface="DM Sans" pitchFamily="34" charset="-122"/>
                <a:cs typeface="DM Sans" pitchFamily="34" charset="-120"/>
              </a:rPr>
              <a:t>Los procedimientos ejecutan los procesos completos.</a:t>
            </a:r>
            <a:endParaRPr lang="en-US" sz="1900" dirty="0"/>
          </a:p>
        </p:txBody>
      </p:sp>
      <p:sp>
        <p:nvSpPr>
          <p:cNvPr id="6" name="Text 4"/>
          <p:cNvSpPr/>
          <p:nvPr/>
        </p:nvSpPr>
        <p:spPr>
          <a:xfrm>
            <a:off x="812800" y="2590800"/>
            <a:ext cx="457200" cy="52324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F0A35C"/>
                </a:solidFill>
                <a:latin typeface="DM Sans" pitchFamily="34" charset="0"/>
                <a:ea typeface="DM Sans" pitchFamily="34" charset="-122"/>
                <a:cs typeface="DM Sans" pitchFamily="34" charset="-120"/>
              </a:rPr>
              <a:t>2</a:t>
            </a:r>
            <a:endParaRPr lang="en-US" sz="2800" dirty="0"/>
          </a:p>
        </p:txBody>
      </p:sp>
      <p:sp>
        <p:nvSpPr>
          <p:cNvPr id="7" name="Text 5"/>
          <p:cNvSpPr/>
          <p:nvPr/>
        </p:nvSpPr>
        <p:spPr>
          <a:xfrm>
            <a:off x="1422400" y="2682875"/>
            <a:ext cx="6469666" cy="339090"/>
          </a:xfrm>
          <a:prstGeom prst="rect">
            <a:avLst/>
          </a:prstGeom>
          <a:noFill/>
          <a:ln/>
        </p:spPr>
        <p:txBody>
          <a:bodyPr wrap="square" lIns="0" tIns="0" rIns="0" bIns="0" rtlCol="0" anchor="t">
            <a:normAutofit/>
          </a:bodyPr>
          <a:lstStyle/>
          <a:p>
            <a:pPr algn="l" indent="0" marL="0">
              <a:lnSpc>
                <a:spcPts val="2470"/>
              </a:lnSpc>
              <a:buNone/>
            </a:pPr>
            <a:r>
              <a:rPr lang="en-US" sz="1900" dirty="0">
                <a:solidFill>
                  <a:srgbClr val="F6F4EE"/>
                </a:solidFill>
                <a:latin typeface="DM Sans" pitchFamily="34" charset="0"/>
                <a:ea typeface="DM Sans" pitchFamily="34" charset="-122"/>
                <a:cs typeface="DM Sans" pitchFamily="34" charset="-120"/>
              </a:rPr>
              <a:t>Las funciones centralizan la regla del descuento.</a:t>
            </a:r>
            <a:endParaRPr lang="en-US" sz="1900" dirty="0"/>
          </a:p>
        </p:txBody>
      </p:sp>
      <p:sp>
        <p:nvSpPr>
          <p:cNvPr id="8" name="Text 6"/>
          <p:cNvSpPr/>
          <p:nvPr/>
        </p:nvSpPr>
        <p:spPr>
          <a:xfrm>
            <a:off x="812800" y="3266442"/>
            <a:ext cx="457200" cy="52324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F0A35C"/>
                </a:solidFill>
                <a:latin typeface="DM Sans" pitchFamily="34" charset="0"/>
                <a:ea typeface="DM Sans" pitchFamily="34" charset="-122"/>
                <a:cs typeface="DM Sans" pitchFamily="34" charset="-120"/>
              </a:rPr>
              <a:t>3</a:t>
            </a:r>
            <a:endParaRPr lang="en-US" sz="2800" dirty="0"/>
          </a:p>
        </p:txBody>
      </p:sp>
      <p:sp>
        <p:nvSpPr>
          <p:cNvPr id="9" name="Text 7"/>
          <p:cNvSpPr/>
          <p:nvPr/>
        </p:nvSpPr>
        <p:spPr>
          <a:xfrm>
            <a:off x="1422400" y="3358517"/>
            <a:ext cx="5329142" cy="339090"/>
          </a:xfrm>
          <a:prstGeom prst="rect">
            <a:avLst/>
          </a:prstGeom>
          <a:noFill/>
          <a:ln/>
        </p:spPr>
        <p:txBody>
          <a:bodyPr wrap="square" lIns="0" tIns="0" rIns="0" bIns="0" rtlCol="0" anchor="t">
            <a:normAutofit/>
          </a:bodyPr>
          <a:lstStyle/>
          <a:p>
            <a:pPr algn="l" indent="0" marL="0">
              <a:lnSpc>
                <a:spcPts val="2470"/>
              </a:lnSpc>
              <a:buNone/>
            </a:pPr>
            <a:r>
              <a:rPr lang="en-US" sz="1900" dirty="0">
                <a:solidFill>
                  <a:srgbClr val="F6F4EE"/>
                </a:solidFill>
                <a:latin typeface="DM Sans" pitchFamily="34" charset="0"/>
                <a:ea typeface="DM Sans" pitchFamily="34" charset="-122"/>
                <a:cs typeface="DM Sans" pitchFamily="34" charset="-120"/>
              </a:rPr>
              <a:t>El package ordena y esconde lo interno.</a:t>
            </a:r>
            <a:endParaRPr lang="en-US" sz="1900" dirty="0"/>
          </a:p>
        </p:txBody>
      </p:sp>
      <p:sp>
        <p:nvSpPr>
          <p:cNvPr id="10" name="Text 8"/>
          <p:cNvSpPr/>
          <p:nvPr/>
        </p:nvSpPr>
        <p:spPr>
          <a:xfrm>
            <a:off x="812800" y="3942079"/>
            <a:ext cx="457200" cy="52324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F0A35C"/>
                </a:solidFill>
                <a:latin typeface="DM Sans" pitchFamily="34" charset="0"/>
                <a:ea typeface="DM Sans" pitchFamily="34" charset="-122"/>
                <a:cs typeface="DM Sans" pitchFamily="34" charset="-120"/>
              </a:rPr>
              <a:t>4</a:t>
            </a:r>
            <a:endParaRPr lang="en-US" sz="2800" dirty="0"/>
          </a:p>
        </p:txBody>
      </p:sp>
      <p:sp>
        <p:nvSpPr>
          <p:cNvPr id="11" name="Text 9"/>
          <p:cNvSpPr/>
          <p:nvPr/>
        </p:nvSpPr>
        <p:spPr>
          <a:xfrm>
            <a:off x="1422400" y="4034154"/>
            <a:ext cx="8019955" cy="339090"/>
          </a:xfrm>
          <a:prstGeom prst="rect">
            <a:avLst/>
          </a:prstGeom>
          <a:noFill/>
          <a:ln/>
        </p:spPr>
        <p:txBody>
          <a:bodyPr wrap="square" lIns="0" tIns="0" rIns="0" bIns="0" rtlCol="0" anchor="t">
            <a:normAutofit/>
          </a:bodyPr>
          <a:lstStyle/>
          <a:p>
            <a:pPr algn="l" indent="0" marL="0">
              <a:lnSpc>
                <a:spcPts val="2470"/>
              </a:lnSpc>
              <a:buNone/>
            </a:pPr>
            <a:r>
              <a:rPr lang="en-US" sz="1900" dirty="0">
                <a:solidFill>
                  <a:srgbClr val="F6F4EE"/>
                </a:solidFill>
                <a:latin typeface="DM Sans" pitchFamily="34" charset="0"/>
                <a:ea typeface="DM Sans" pitchFamily="34" charset="-122"/>
                <a:cs typeface="DM Sans" pitchFamily="34" charset="-120"/>
              </a:rPr>
              <a:t>Los triggers hacen cumplir las reglas del stock y la auditoría.</a:t>
            </a:r>
            <a:endParaRPr lang="en-US" sz="1900" dirty="0"/>
          </a:p>
        </p:txBody>
      </p:sp>
      <p:sp>
        <p:nvSpPr>
          <p:cNvPr id="12" name="Text 10"/>
          <p:cNvSpPr/>
          <p:nvPr/>
        </p:nvSpPr>
        <p:spPr>
          <a:xfrm>
            <a:off x="812800" y="4744721"/>
            <a:ext cx="10883392" cy="334010"/>
          </a:xfrm>
          <a:prstGeom prst="rect">
            <a:avLst/>
          </a:prstGeom>
          <a:noFill/>
          <a:ln/>
        </p:spPr>
        <p:txBody>
          <a:bodyPr wrap="square" lIns="0" tIns="0" rIns="0" bIns="0" rtlCol="0" anchor="t">
            <a:normAutofit/>
          </a:bodyPr>
          <a:lstStyle/>
          <a:p>
            <a:pPr algn="l" indent="0" marL="0">
              <a:lnSpc>
                <a:spcPts val="2430"/>
              </a:lnSpc>
              <a:buNone/>
            </a:pPr>
            <a:r>
              <a:rPr lang="en-US" sz="1800" b="1" dirty="0">
                <a:solidFill>
                  <a:srgbClr val="F0A35C"/>
                </a:solidFill>
                <a:latin typeface="DM Sans" pitchFamily="34" charset="0"/>
                <a:ea typeface="DM Sans" pitchFamily="34" charset="-122"/>
                <a:cs typeface="DM Sans" pitchFamily="34" charset="-120"/>
              </a:rPr>
              <a:t>El resultado es una lógica reutilizable, controlada y auditable.</a:t>
            </a:r>
            <a:endParaRPr lang="en-US" sz="1800" dirty="0"/>
          </a:p>
        </p:txBody>
      </p:sp>
    </p:spTree>
  </p:cSld>
  <p:clrMapOvr>
    <a:masterClrMapping/>
  </p:clrMapOvr>
</p:sld>
</file>

<file path=ppt/theme/theme1.xml><?xml version="1.0" encoding="utf-8"?>
<a:theme xmlns:a="http://schemas.openxmlformats.org/drawingml/2006/main" name="EP2 BDY1103 Sonido Vivo">
  <a:themeElements>
    <a:clrScheme name="EP2 BDY1103 Sonido Vivo">
      <a:dk1>
        <a:srgbClr val="101826"/>
      </a:dk1>
      <a:lt1>
        <a:srgbClr val="F6F4EE"/>
      </a:lt1>
      <a:dk2>
        <a:srgbClr val="4A4F58"/>
      </a:dk2>
      <a:lt2>
        <a:srgbClr val="DFDEDA"/>
      </a:lt2>
      <a:accent1>
        <a:srgbClr val="F0A35C"/>
      </a:accent1>
      <a:accent2>
        <a:srgbClr val="A4540B"/>
      </a:accent2>
      <a:accent3>
        <a:srgbClr val="E8913A"/>
      </a:accent3>
      <a:accent4>
        <a:srgbClr val="2B6E8C"/>
      </a:accent4>
      <a:accent5>
        <a:srgbClr val="2F7D45"/>
      </a:accent5>
      <a:accent6>
        <a:srgbClr val="B5301F"/>
      </a:accent6>
      <a:hlink>
        <a:srgbClr val="0563C1"/>
      </a:hlink>
      <a:folHlink>
        <a:srgbClr val="954F72"/>
      </a:folHlink>
    </a:clrScheme>
    <a:fontScheme name="EP2 BDY1103 Sonido Vivo">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EP2 BDY1103 Sonido Vivo</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DM Sans
Copyright 2014 The DM Sans Project Authors (https://github.com/googlefonts/dm-fonts)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2026-10-30T00:16:19Z</dcterms:created>
  <dcterms:modified xsi:type="dcterms:W3CDTF">2026-10-30T00:16:19Z</dcterms:modified>
</cp:coreProperties>
</file>