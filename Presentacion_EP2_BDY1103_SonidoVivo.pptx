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Presentarse y decir en una frase de qué trata el trabajo: se tomó el caso Sonido Vivo y se pasó su lógica de negocio a objetos almacenados en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el caso sin extenderse, como indicó el docente. La solución es llevar las reglas a la base con cuatro tipos de programas almacenados: procedimientos ejecutan, funciones calculan, package agrupa, triggers reaccionan.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procedimiento ejecuta una acción completa y no se usa dentro de un SELECT. SP_LIQUIDAR_CLIENTES no tiene parámetros y procesa a todos los clientes (información masiva). SP_REGISTRAR_VENTA recibe cliente, producto y cantidad; si falla hace ROLLBACK y registra el error. Desventaja: si cambia una regla hay que recompilar.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función devuelve un valor con RETURN, por eso se usa en un SELECT y en otros programas. FN_CALCULAR_DESCUENTO devuelve la tasa (0/5/10, +2 si PREMIUM); para Carlos da 12. FN_TOTAL_PENDIENTE suma las ventas pendientes. Una función llamada desde un SELECT no puede modificar datos (ORA-14551); las mías solo leen.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package agrupa bajo un nombre. La especificación es lo público; el body contiene la implementación y lo privado. Lo privado es apoyo interno (sp_registrar_log usa transacción autónoma). Encapsulación: si cambio el interior no afecto a quien lo usa. Privado no es protegido. La prueba: llamar lo privado da PLS-00302. sp_resumen_cliente reutiliza FN_CALCULAR_DESCUENTO.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trigger se dispara solo. De fila: una vez por cada fila; TRG_DESCUENTA_STOCK valida y descuenta stock (BEFORE INSERT). De sentencia: una vez por operación; TRG_AUDITA_VENTA audita VENTA. Doble descuento: solo el trigger toca el stock. Tabla mutante (ORA-04091): un trigger de fila no puede leer ni modificar la tabla que lo disparó; el mío está en DETALLE_VENTA y consulta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SP_REGISTRAR_VENTA(1, 'GE002', 5) con GE002 en 2 unidades: valida, inserta venta (auditoría), inserta detalle (trigger de fila), el trigger ve 2&lt;5 y lanza -20001, el procedimiento hace ROLLBACK y guarda el error. Al final el stock no cambió y la venta no existe; solo queda el registro del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de la demostración real en Oracle: los ocho objetos compilaron y las pruebas dieron lo esperado. Si el docente pide ver el código, correr la sección de pruebas del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repasando: cada objeto resuelve una parte del problema. Los descuentos se calculan igual, las ventas se validan, el stock no se descuadra y los errores quedan registrados. Terminar abriendo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0A35C"/>
                </a:solidFill>
                <a:latin typeface="Calibri"/>
              </a:rPr>
              <a:t>BDY1103 · TALLER DE BASE DE DATOS · EVALUACIÓN PARCIAL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6F4EE"/>
                </a:solidFill>
                <a:latin typeface="Calibri"/>
              </a:rPr>
              <a:t>Sonido Vivo: la lógica del negocio dentro de Oracle</a:t>
            </a:r>
          </a:p>
          <a:p>
            <a:r>
              <a:rPr sz="2000" b="0">
                <a:solidFill>
                  <a:srgbClr val="C7D0DC"/>
                </a:solidFill>
                <a:latin typeface="Calibri"/>
              </a:rPr>
              <a:t>Funciones, procedimientos, package y triggers en PL/SQL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C7D0DC"/>
                </a:solidFill>
                <a:latin typeface="Calibri"/>
              </a:rPr>
              <a:t>Dylan Sandoval · Víctor Martínez · Danilo Sepúlveda — DUOC UC —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4540B"/>
                </a:solidFill>
                <a:latin typeface="Calibri"/>
              </a:rPr>
              <a:t>EL CASO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01826"/>
                </a:solidFill>
                <a:latin typeface="Calibri"/>
              </a:rPr>
              <a:t>Sonido Vivo, en pocas palabras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3B4452"/>
                </a:solidFill>
                <a:latin typeface="Calibri"/>
              </a:rPr>
              <a:t>•  Tienda de instrumentos que liquida a sus clientes con descuento y controla su stock.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3B4452"/>
                </a:solidFill>
                <a:latin typeface="Calibri"/>
              </a:rPr>
              <a:t>•  Sin reglas centralizadas, el descuento y el stock se calculan distinto en cada programa.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01826"/>
                </a:solidFill>
                <a:latin typeface="Calibri"/>
              </a:rPr>
              <a:t>•  Solución: llevar esas reglas a la base de datos.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2468880" cy="1188720"/>
          </a:xfrm>
          <a:prstGeom prst="round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6F4EE"/>
                </a:solidFill>
                <a:latin typeface="Calibri"/>
              </a:rPr>
              <a:t>Procedimientos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0A35C"/>
                </a:solidFill>
                <a:latin typeface="Calibri"/>
              </a:rPr>
              <a:t>ejecutan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4754880"/>
            <a:ext cx="2468880" cy="1188720"/>
          </a:xfrm>
          <a:prstGeom prst="round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6F4EE"/>
                </a:solidFill>
                <a:latin typeface="Calibri"/>
              </a:rPr>
              <a:t>Funciones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0A35C"/>
                </a:solidFill>
                <a:latin typeface="Calibri"/>
              </a:rPr>
              <a:t>calculan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2468880" cy="1188720"/>
          </a:xfrm>
          <a:prstGeom prst="round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6F4EE"/>
                </a:solidFill>
                <a:latin typeface="Calibri"/>
              </a:rPr>
              <a:t>Package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0A35C"/>
                </a:solidFill>
                <a:latin typeface="Calibri"/>
              </a:rPr>
              <a:t>agrupa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4754880"/>
            <a:ext cx="2468880" cy="1188720"/>
          </a:xfrm>
          <a:prstGeom prst="round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6F4EE"/>
                </a:solidFill>
                <a:latin typeface="Calibri"/>
              </a:rPr>
              <a:t>Triggers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0A35C"/>
                </a:solidFill>
                <a:latin typeface="Calibri"/>
              </a:rPr>
              <a:t>reaccionan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4540B"/>
                </a:solidFill>
                <a:latin typeface="Calibri"/>
              </a:rPr>
              <a:t>PROCEDIMIENTOS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01826"/>
                </a:solidFill>
                <a:latin typeface="Calibri"/>
              </a:rPr>
              <a:t>Una receta guardada que hace algo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4290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QUÉ ES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Hace una acción: insertar, actualizar.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No devuelve un valor.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Se llama con EXEC.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286000"/>
            <a:ext cx="34290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EN MI TRABAJO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01826"/>
                </a:solidFill>
                <a:latin typeface="Calibri"/>
              </a:rPr>
              <a:t>SP_LIQUIDAR_CLIENTES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Sin parámetros: liquida a todos.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01826"/>
                </a:solidFill>
                <a:latin typeface="Calibri"/>
              </a:rPr>
              <a:t>SP_REGISTRAR_VENTA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Con parámetros: registra una venta.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286000"/>
            <a:ext cx="34290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POR QUÉ LO USO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Procesos completos que modifican datos.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Una llamada procesa a muchos.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Reutilizan la función del descuento.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A4540B"/>
                </a:solidFill>
                <a:latin typeface="Calibri"/>
              </a:rPr>
              <a:t>En una frase: son los procesos completos del negocio.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4540B"/>
                </a:solidFill>
                <a:latin typeface="Calibri"/>
              </a:rPr>
              <a:t>FUNCIONES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01826"/>
                </a:solidFill>
                <a:latin typeface="Calibri"/>
              </a:rPr>
              <a:t>Una calculadora guardada que devuelve un resultado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4290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QUÉ ES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Recibe datos y devuelve un valor con RETURN.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Se usa dentro de un SELECT.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Y en otros programas PL/SQL.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286000"/>
            <a:ext cx="34290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EN MI TRABAJO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01826"/>
                </a:solidFill>
                <a:latin typeface="Calibri"/>
              </a:rPr>
              <a:t>FN_CALCULAR_DESCUENTO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Con parámetros: devuelve la tasa.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01826"/>
                </a:solidFill>
                <a:latin typeface="Calibri"/>
              </a:rPr>
              <a:t>FN_TOTAL_PENDIENTE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Sin parámetros: suma pendientes.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286000"/>
            <a:ext cx="34290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POR QUÉ LO USO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La regla se escribe una sola vez.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Se reutiliza en SQL y procedimientos.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3B4452"/>
                </a:solidFill>
                <a:latin typeface="Calibri"/>
              </a:rPr>
              <a:t>•  Desde un SELECT no modifica datos.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A4540B"/>
                </a:solidFill>
                <a:latin typeface="Calibri"/>
              </a:rPr>
              <a:t>SELECT FN_CALCULAR_DESCUENTO(891950, 'PREMIUM') FROM DUAL;  →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0A35C"/>
                </a:solidFill>
                <a:latin typeface="Calibri"/>
              </a:rPr>
              <a:t>PACKAGE · PKG_SONIDO_VIVO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6F4EE"/>
                </a:solidFill>
                <a:latin typeface="Calibri"/>
              </a:rPr>
              <a:t>Una caja con tapa: lo público se ve, lo privado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429000" cy="27432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0A35C"/>
                </a:solidFill>
                <a:latin typeface="Calibri"/>
              </a:rPr>
              <a:t>QUÉ ES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•  Agrupa funciones y procedimientos.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•  Especificación: lo público.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•  Body: implementación y lo privado.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286000"/>
            <a:ext cx="3429000" cy="27432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0A35C"/>
                </a:solidFill>
                <a:latin typeface="Calibri"/>
              </a:rPr>
              <a:t>EN MI TRABAJO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F6F4EE"/>
                </a:solidFill>
                <a:latin typeface="Calibri"/>
              </a:rPr>
              <a:t>Público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fn_stock_producto, sp_reponer_stock,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sp_resumen_cliente, sp_mostrar_criticos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F6F4EE"/>
                </a:solidFill>
                <a:latin typeface="Calibri"/>
              </a:rPr>
              <a:t>Privado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sp_registrar_log, fn_existe_producto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286000"/>
            <a:ext cx="3429000" cy="27432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0A35C"/>
                </a:solidFill>
                <a:latin typeface="Calibri"/>
              </a:rPr>
              <a:t>POR QUÉ LO USO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•  Un solo nombre para stock y clientes.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•  Lo privado es apoyo interno: lo puedo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C7D0DC"/>
                </a:solidFill>
                <a:latin typeface="Calibri"/>
              </a:rPr>
              <a:t>cambiar sin afectar a quien lo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0A35C"/>
                </a:solidFill>
                <a:latin typeface="Calibri"/>
              </a:rPr>
              <a:t>Prueba: llamar sp_registrar_log desde fuera falla con PLS-00302.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4540B"/>
                </a:solidFill>
                <a:latin typeface="Calibri"/>
              </a:rPr>
              <a:t>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01826"/>
                </a:solidFill>
                <a:latin typeface="Calibri"/>
              </a:rPr>
              <a:t>Una alarma que se dispara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B4452"/>
                </a:solidFill>
                <a:latin typeface="Calibri"/>
              </a:rPr>
              <a:t>Salta ante un INSERT, UPDATE o DELETE en una tabla; nadie la llama.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2120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DE FILA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01826"/>
                </a:solidFill>
                <a:latin typeface="Calibri"/>
              </a:rPr>
              <a:t>Insertas 3 filas → salta 3 veces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01826"/>
                </a:solidFill>
                <a:latin typeface="Calibri"/>
              </a:rPr>
              <a:t>TRG_DESCUENTA_STOCK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B4452"/>
                </a:solidFill>
                <a:latin typeface="Calibri"/>
              </a:rPr>
              <a:t>Sobre DETALLE_VENTA. Por cada línea revisa el stock: si alcanza lo descuenta; si no, rechaza con el error -20001.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377440"/>
            <a:ext cx="52120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4540B"/>
                </a:solidFill>
                <a:latin typeface="Calibri"/>
              </a:rPr>
              <a:t>DE SENTENCIA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01826"/>
                </a:solidFill>
                <a:latin typeface="Calibri"/>
              </a:rPr>
              <a:t>Insertas 3 filas → salta 1 vez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01826"/>
                </a:solidFill>
                <a:latin typeface="Calibri"/>
              </a:rPr>
              <a:t>TRG_AUDITA_VENTA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B4452"/>
                </a:solidFill>
                <a:latin typeface="Calibri"/>
              </a:rPr>
              <a:t>Sobre VENTA. Anota una vez cada INSERT, UPDATE o DELETE en AUDITORIA_OPERACION.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A4540B"/>
                </a:solidFill>
                <a:latin typeface="Calibri"/>
              </a:rPr>
              <a:t>Por qué así: el stock depende de cada línea (fila); para auditar basta saber que hubo una operación (sentencia).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B4452"/>
                </a:solidFill>
                <a:latin typeface="Calibri"/>
              </a:rPr>
              <a:t>Solo el trigger descuenta stock, para no descontarlo dos veces.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0A35C"/>
                </a:solidFill>
                <a:latin typeface="Calibri"/>
              </a:rPr>
              <a:t>TODO JUNTO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6F4EE"/>
                </a:solidFill>
                <a:latin typeface="Calibri"/>
              </a:rPr>
              <a:t>Una venta sin stock, paso a paso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429000" cy="13716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0A35C"/>
                </a:solidFill>
                <a:latin typeface="Calibri"/>
              </a:rPr>
              <a:t>1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F6F4EE"/>
                </a:solidFill>
                <a:latin typeface="Calibri"/>
              </a:rPr>
              <a:t>El procedimiento valida cantidad, cliente y producto.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377440"/>
            <a:ext cx="3429000" cy="13716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0A35C"/>
                </a:solidFill>
                <a:latin typeface="Calibri"/>
              </a:rPr>
              <a:t>2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F6F4EE"/>
                </a:solidFill>
                <a:latin typeface="Calibri"/>
              </a:rPr>
              <a:t>Inserta la venta. El trigger de sentencia deja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377440"/>
            <a:ext cx="3429000" cy="13716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0A35C"/>
                </a:solidFill>
                <a:latin typeface="Calibri"/>
              </a:rPr>
              <a:t>3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F6F4EE"/>
                </a:solidFill>
                <a:latin typeface="Calibri"/>
              </a:rPr>
              <a:t>Inserta el detalle. El trigger de fila revisa el stock.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3429000" cy="13716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0A35C"/>
                </a:solidFill>
                <a:latin typeface="Calibri"/>
              </a:rPr>
              <a:t>4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F6F4EE"/>
                </a:solidFill>
                <a:latin typeface="Calibri"/>
              </a:rPr>
              <a:t>Hay 2 y se piden 5: el trigger lanza el error -20001.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931920"/>
            <a:ext cx="3429000" cy="13716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0A35C"/>
                </a:solidFill>
                <a:latin typeface="Calibri"/>
              </a:rPr>
              <a:t>5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F6F4EE"/>
                </a:solidFill>
                <a:latin typeface="Calibri"/>
              </a:rPr>
              <a:t>ROLLBACK: la venta y la auditoría se deshacen.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931920"/>
            <a:ext cx="3429000" cy="1371600"/>
          </a:xfrm>
          <a:prstGeom prst="roundRect">
            <a:avLst/>
          </a:prstGeom>
          <a:solidFill>
            <a:srgbClr val="1A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0A35C"/>
                </a:solidFill>
                <a:latin typeface="Calibri"/>
              </a:rPr>
              <a:t>6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F6F4EE"/>
                </a:solidFill>
                <a:latin typeface="Calibri"/>
              </a:rPr>
              <a:t>Se guarda el error en LOG_ERRORES. El stock no cambia.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4540B"/>
                </a:solidFill>
                <a:latin typeface="Calibri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01826"/>
                </a:solidFill>
                <a:latin typeface="Calibri"/>
              </a:rPr>
              <a:t>Lo que se ejecutó y lo que respondió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19456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4572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6F4EE"/>
                          </a:solidFill>
                        </a:rPr>
                        <a:t>Prueba</a:t>
                      </a:r>
                    </a:p>
                  </a:txBody>
                  <a:tcPr>
                    <a:solidFill>
                      <a:srgbClr val="10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6F4EE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0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Función con parámetros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Tasas 12, 5, 0 y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Función sin parámetros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Total pendiente: 2.507.890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Liquidación masiva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4 clientes liquidados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Venta correcta (2 × AC002)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Venta 1006; stock de 20 a 18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Venta sin stock (5 × GE002)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Rechazada y registrada en LOG_ERRORES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Cantidad 0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Rechazada y registrada en LOG_ERRORES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Elemento privado del package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Error PLS-00302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Trigger de sentencia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452"/>
                          </a:solidFill>
                        </a:rPr>
                        <a:t>Una fila INSERT en AUDITORIA_OPERACION</a:t>
                      </a:r>
                    </a:p>
                  </a:txBody>
                  <a:tcPr>
                    <a:solidFill>
                      <a:srgbClr val="ECE9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0A35C"/>
                </a:solidFill>
                <a:latin typeface="Calibri"/>
              </a:rPr>
              <a:t>CONCLUSIÓN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6F4EE"/>
                </a:solidFill>
                <a:latin typeface="Calibri"/>
              </a:rPr>
              <a:t>La lógica ahora vive en la base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1">
                <a:solidFill>
                  <a:srgbClr val="F0A35C"/>
                </a:solidFill>
                <a:latin typeface="Calibri"/>
              </a:rPr>
              <a:t>1   </a:t>
            </a:r>
            <a:r>
              <a:rPr sz="2000" b="0">
                <a:solidFill>
                  <a:srgbClr val="F6F4EE"/>
                </a:solidFill>
                <a:latin typeface="Calibri"/>
              </a:rPr>
              <a:t>Las funciones centralizan la regla del descuento.</a:t>
            </a:r>
          </a:p>
          <a:p>
            <a:pPr>
              <a:spcAft>
                <a:spcPts val="1400"/>
              </a:spcAft>
            </a:pPr>
            <a:r>
              <a:rPr sz="2600" b="1">
                <a:solidFill>
                  <a:srgbClr val="F0A35C"/>
                </a:solidFill>
                <a:latin typeface="Calibri"/>
              </a:rPr>
              <a:t>2   </a:t>
            </a:r>
            <a:r>
              <a:rPr sz="2000" b="0">
                <a:solidFill>
                  <a:srgbClr val="F6F4EE"/>
                </a:solidFill>
                <a:latin typeface="Calibri"/>
              </a:rPr>
              <a:t>Los procedimientos ejecutan los procesos completos.</a:t>
            </a:r>
          </a:p>
          <a:p>
            <a:pPr>
              <a:spcAft>
                <a:spcPts val="1400"/>
              </a:spcAft>
            </a:pPr>
            <a:r>
              <a:rPr sz="2600" b="1">
                <a:solidFill>
                  <a:srgbClr val="F0A35C"/>
                </a:solidFill>
                <a:latin typeface="Calibri"/>
              </a:rPr>
              <a:t>3   </a:t>
            </a:r>
            <a:r>
              <a:rPr sz="2000" b="0">
                <a:solidFill>
                  <a:srgbClr val="F6F4EE"/>
                </a:solidFill>
                <a:latin typeface="Calibri"/>
              </a:rPr>
              <a:t>El package ordena y esconde lo interno.</a:t>
            </a:r>
          </a:p>
          <a:p>
            <a:pPr>
              <a:spcAft>
                <a:spcPts val="1400"/>
              </a:spcAft>
            </a:pPr>
            <a:r>
              <a:rPr sz="2600" b="1">
                <a:solidFill>
                  <a:srgbClr val="F0A35C"/>
                </a:solidFill>
                <a:latin typeface="Calibri"/>
              </a:rPr>
              <a:t>4   </a:t>
            </a:r>
            <a:r>
              <a:rPr sz="2000" b="0">
                <a:solidFill>
                  <a:srgbClr val="F6F4EE"/>
                </a:solidFill>
                <a:latin typeface="Calibri"/>
              </a:rPr>
              <a:t>Los triggers hacen cumplir el stock y la auditoría.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577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0A35C"/>
                </a:solidFill>
                <a:latin typeface="Calibri"/>
              </a:rPr>
              <a:t>El resultado es una lógica reutilizable, controlada y auditable.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